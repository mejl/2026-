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3"/>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one. Creation and the early world. The Bible opens with God creating the heavens and the earth, and humanity in his image. Adam and Eve fall into sin, Noah survives the flood, and the Tower of Babel scatters the 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two. The patriarchs. God calls Abraham and promises him a great nation. The promise passes to Isaac and Jacob, whose twelve sons become the tribes of Israel. Joseph is sold into Egypt and rises to save his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three. The Exodus. Moses leads Israel out of slavery in Egypt through ten plagues and the parting of the Red Sea. At Mount Sinai God gives the Ten Commandments, and Israel wanders forty years in the wilderness.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four. Conquest and the judges. Joshua leads Israel into the Promised Land, and the walls of Jericho fall. Then judges such as Deborah, Gideon and Samson lead the people, and Ruth's faithfulness leads to King David's family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five. The united kingdom. Saul becomes Israel's first king. Young David defeats Goliath, becomes king and writes many psalms. His son Solomon, famous for wisdom, builds the Temple in Jerusalem.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six. The divided kingdom. After Solomon the kingdom splits in two. Prophets like Elijah, Elisha, Isaiah and Jonah warn the people to turn back to God. In seven twenty two B C, Assyria conquers the northern kingdom.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seven. The exile. Babylon destroys Jerusalem and the Temple, and the people are taken captive. In Babylon, Daniel survives the lions' den, while Jeremiah and Ezekiel promise that God will restore his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eight. Return and rebuilding. Persia allows the Jews to go home. They rebuild the Temple and, under Nehemiah, the walls of Jerusalem. Queen Esther saves her people, and Malachi closes the Old Testament.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nine. The four hundred silent years. Between the Old and New Testaments, Greece and then Rome rule the land. The Maccabees rededicate the Temple, and hope for a coming Messiah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ten. The life of Jesus. Jesus is born in Bethlehem. After John the Baptist prepares the way, Jesus calls twelve disciples, teaches the Sermon on the Mount, tells parables and heals the sick.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eleven. Death and resurrection. After the Last Supper, Jesus is crucified in Jerusalem. On the third day he rises from the dead, and after forty days he ascends to heaven.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twelve. The early church. At Pentecost the Holy Spirit comes, and Peter preaches to the crowds. Saul, a persecutor, meets Jesus and becomes the apostle Paul, carrying the message across the Roman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thirteen. The letters. Paul, Peter, James, John and Jude write letters to young churches, teaching about grace, faith and love, and encouraging believers who face persecution.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fourteen. Revelation. On the island of Patmos, John receives visions of the struggle between good and evil, ending with the promise of a new heaven and a new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audio" Target="../media/media-1-2.mp3"/><Relationship Id="rId3" Type="http://schemas.microsoft.com/office/2007/relationships/media" Target="../media/media-1-2.mp3"/><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audio" Target="../media/media-2-15.mp3"/><Relationship Id="rId16" Type="http://schemas.microsoft.com/office/2007/relationships/media" Target="../media/media-2-15.mp3"/><Relationship Id="rId17" Type="http://schemas.openxmlformats.org/officeDocument/2006/relationships/image" Target="../media/image-2-17.png"/><Relationship Id="rId18" Type="http://schemas.openxmlformats.org/officeDocument/2006/relationships/slideLayout" Target="../slideLayouts/slideLayout1.xml"/><Relationship Id="rId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audio" Target="../media/media-3-2.mp3"/><Relationship Id="rId3" Type="http://schemas.microsoft.com/office/2007/relationships/media" Target="../media/media-3-2.mp3"/><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audio" Target="../media/media-4-2.mp3"/><Relationship Id="rId3" Type="http://schemas.microsoft.com/office/2007/relationships/media" Target="../media/media-4-2.mp3"/><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audio" Target="../media/media-5-2.mp3"/><Relationship Id="rId3" Type="http://schemas.microsoft.com/office/2007/relationships/media" Target="../media/media-5-2.mp3"/><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audio" Target="../media/media-6-2.mp3"/><Relationship Id="rId3" Type="http://schemas.microsoft.com/office/2007/relationships/media" Target="../media/media-6-2.mp3"/><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audio" Target="../media/media-7-2.mp3"/><Relationship Id="rId3" Type="http://schemas.microsoft.com/office/2007/relationships/media" Target="../media/media-7-2.mp3"/><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audio" Target="../media/media-8-2.mp3"/><Relationship Id="rId3" Type="http://schemas.microsoft.com/office/2007/relationships/media" Target="../media/media-8-2.mp3"/><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audio" Target="../media/media-9-2.mp3"/><Relationship Id="rId3" Type="http://schemas.microsoft.com/office/2007/relationships/media" Target="../media/media-9-2.mp3"/><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audio" Target="../media/media-10-2.mp3"/><Relationship Id="rId3" Type="http://schemas.microsoft.com/office/2007/relationships/media" Target="../media/media-10-2.mp3"/><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audio" Target="../media/media-11-2.mp3"/><Relationship Id="rId3" Type="http://schemas.microsoft.com/office/2007/relationships/media" Target="../media/media-11-2.mp3"/><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audio" Target="../media/media-12-2.mp3"/><Relationship Id="rId3" Type="http://schemas.microsoft.com/office/2007/relationships/media" Target="../media/media-12-2.mp3"/><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audio" Target="../media/media-13-2.mp3"/><Relationship Id="rId3" Type="http://schemas.microsoft.com/office/2007/relationships/media" Target="../media/media-13-2.mp3"/><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audio" Target="../media/media-14-2.mp3"/><Relationship Id="rId3" Type="http://schemas.microsoft.com/office/2007/relationships/media" Target="../media/media-14-2.mp3"/><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audio" Target="../media/media-15-2.mp3"/><Relationship Id="rId3" Type="http://schemas.microsoft.com/office/2007/relationships/media" Target="../media/media-15-2.mp3"/><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audio" Target="../media/media-16-2.mp3"/><Relationship Id="rId3" Type="http://schemas.microsoft.com/office/2007/relationships/media" Target="../media/media-16-2.mp3"/><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audio" Target="../media/media-17-2.mp3"/><Relationship Id="rId3" Type="http://schemas.microsoft.com/office/2007/relationships/media" Target="../media/media-17-2.mp3"/><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5090008" y="685800"/>
            <a:ext cx="2011680" cy="2011680"/>
          </a:xfrm>
          <a:prstGeom prst="ellipse">
            <a:avLst/>
          </a:prstGeom>
          <a:solidFill>
            <a:srgbClr val="D4A437"/>
          </a:solidFill>
          <a:ln/>
        </p:spPr>
      </p:sp>
      <p:pic>
        <p:nvPicPr>
          <p:cNvPr id="3" name="Image 0" descr="icons/cover.png">    </p:cNvPr>
          <p:cNvPicPr>
            <a:picLocks noChangeAspect="1"/>
          </p:cNvPicPr>
          <p:nvPr/>
        </p:nvPicPr>
        <p:blipFill>
          <a:blip r:embed="rId1"/>
          <a:stretch>
            <a:fillRect/>
          </a:stretch>
        </p:blipFill>
        <p:spPr>
          <a:xfrm>
            <a:off x="5410048" y="1005840"/>
            <a:ext cx="1371600" cy="1371600"/>
          </a:xfrm>
          <a:prstGeom prst="rect">
            <a:avLst/>
          </a:prstGeom>
        </p:spPr>
      </p:pic>
      <p:sp>
        <p:nvSpPr>
          <p:cNvPr id="4" name="Text 1"/>
          <p:cNvSpPr txBox="1"/>
          <p:nvPr/>
        </p:nvSpPr>
        <p:spPr>
          <a:xfrm>
            <a:off x="731520" y="2971800"/>
            <a:ext cx="10728655" cy="1005840"/>
          </a:xfrm>
          <a:prstGeom prst="rect">
            <a:avLst/>
          </a:prstGeom>
          <a:noFill/>
          <a:ln/>
        </p:spPr>
        <p:txBody>
          <a:bodyPr wrap="square" lIns="0" tIns="0" rIns="0" bIns="0" rtlCol="0" anchor="ctr"/>
          <a:lstStyle/>
          <a:p>
            <a:pPr algn="ctr" indent="0" marL="0">
              <a:buNone/>
            </a:pPr>
            <a:r>
              <a:rPr lang="en-US" sz="4800" b="1" dirty="0">
                <a:solidFill>
                  <a:srgbClr val="FBF8F1"/>
                </a:solidFill>
                <a:latin typeface="Cambria" pitchFamily="34" charset="0"/>
                <a:ea typeface="Cambria" pitchFamily="34" charset="-122"/>
                <a:cs typeface="Cambria" pitchFamily="34" charset="-120"/>
              </a:rPr>
              <a:t>The Bible in Timeline Order</a:t>
            </a:r>
            <a:endParaRPr lang="en-US" sz="4800" dirty="0"/>
          </a:p>
        </p:txBody>
      </p:sp>
      <p:sp>
        <p:nvSpPr>
          <p:cNvPr id="5" name="Text 2"/>
          <p:cNvSpPr txBox="1"/>
          <p:nvPr/>
        </p:nvSpPr>
        <p:spPr>
          <a:xfrm>
            <a:off x="731520" y="3977640"/>
            <a:ext cx="10728655" cy="548640"/>
          </a:xfrm>
          <a:prstGeom prst="rect">
            <a:avLst/>
          </a:prstGeom>
          <a:noFill/>
          <a:ln/>
        </p:spPr>
        <p:txBody>
          <a:bodyPr wrap="square" lIns="0" tIns="0" rIns="0" bIns="0" rtlCol="0" anchor="ctr"/>
          <a:lstStyle/>
          <a:p>
            <a:pPr algn="ctr" indent="0" marL="0">
              <a:buNone/>
            </a:pPr>
            <a:r>
              <a:rPr lang="en-US" sz="2200" i="1" dirty="0">
                <a:solidFill>
                  <a:srgbClr val="D4A437"/>
                </a:solidFill>
                <a:latin typeface="Calibri" pitchFamily="34" charset="0"/>
                <a:ea typeface="Calibri" pitchFamily="34" charset="-122"/>
                <a:cs typeface="Calibri" pitchFamily="34" charset="-120"/>
              </a:rPr>
              <a:t>From Creation to Revelation · 14 eras</a:t>
            </a:r>
            <a:endParaRPr lang="en-US" sz="2200" dirty="0"/>
          </a:p>
        </p:txBody>
      </p:sp>
      <p:sp>
        <p:nvSpPr>
          <p:cNvPr id="6" name="Text 3"/>
          <p:cNvSpPr txBox="1"/>
          <p:nvPr/>
        </p:nvSpPr>
        <p:spPr>
          <a:xfrm>
            <a:off x="731520" y="4617720"/>
            <a:ext cx="10728655" cy="365760"/>
          </a:xfrm>
          <a:prstGeom prst="rect">
            <a:avLst/>
          </a:prstGeom>
          <a:noFill/>
          <a:ln/>
        </p:spPr>
        <p:txBody>
          <a:bodyPr wrap="square" lIns="0" tIns="0" rIns="0" bIns="0" rtlCol="0" anchor="ctr"/>
          <a:lstStyle/>
          <a:p>
            <a:pPr algn="ctr" indent="0" marL="0">
              <a:buNone/>
            </a:pPr>
            <a:r>
              <a:rPr lang="en-US" sz="1400" b="1" dirty="0">
                <a:solidFill>
                  <a:srgbClr val="8B93A8"/>
                </a:solidFill>
                <a:latin typeface="Calibri" pitchFamily="34" charset="0"/>
                <a:ea typeface="Calibri" pitchFamily="34" charset="-122"/>
                <a:cs typeface="Calibri" pitchFamily="34" charset="-120"/>
              </a:rPr>
              <a:t>Made with Claude Sonnet 5 · Effort: Low</a:t>
            </a:r>
            <a:endParaRPr lang="en-US" sz="1400" dirty="0"/>
          </a:p>
        </p:txBody>
      </p:sp>
      <p:sp>
        <p:nvSpPr>
          <p:cNvPr id="7" name="Text 4"/>
          <p:cNvSpPr txBox="1"/>
          <p:nvPr/>
        </p:nvSpPr>
        <p:spPr>
          <a:xfrm>
            <a:off x="731520" y="5852160"/>
            <a:ext cx="10728655" cy="365760"/>
          </a:xfrm>
          <a:prstGeom prst="rect">
            <a:avLst/>
          </a:prstGeom>
          <a:noFill/>
          <a:ln/>
        </p:spPr>
        <p:txBody>
          <a:bodyPr wrap="square" lIns="0" tIns="0" rIns="0" bIns="0" rtlCol="0" anchor="ctr"/>
          <a:lstStyle/>
          <a:p>
            <a:pPr algn="ctr" indent="0" marL="0">
              <a:buNone/>
            </a:pPr>
            <a:r>
              <a:rPr lang="en-US" sz="1300" dirty="0">
                <a:solidFill>
                  <a:srgbClr val="AEB4C6"/>
                </a:solidFill>
                <a:latin typeface="Calibri" pitchFamily="34" charset="0"/>
                <a:ea typeface="Calibri" pitchFamily="34" charset="-122"/>
                <a:cs typeface="Calibri" pitchFamily="34" charset="-120"/>
              </a:rPr>
              <a:t>Click the speaker icon on each slide to hear the narration</a:t>
            </a:r>
            <a:endParaRPr lang="en-US" sz="130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11480"/>
            <a:ext cx="9144000" cy="82296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The Whole Story at a Glance</a:t>
            </a:r>
            <a:endParaRPr lang="en-US" sz="3800" dirty="0"/>
          </a:p>
        </p:txBody>
      </p:sp>
      <p:sp>
        <p:nvSpPr>
          <p:cNvPr id="3" name="Text 1"/>
          <p:cNvSpPr txBox="1"/>
          <p:nvPr/>
        </p:nvSpPr>
        <p:spPr>
          <a:xfrm>
            <a:off x="731520" y="1188720"/>
            <a:ext cx="7315200" cy="365760"/>
          </a:xfrm>
          <a:prstGeom prst="rect">
            <a:avLst/>
          </a:prstGeom>
          <a:noFill/>
          <a:ln/>
        </p:spPr>
        <p:txBody>
          <a:bodyPr wrap="square" lIns="0" tIns="0" rIns="0" bIns="0" rtlCol="0" anchor="ctr"/>
          <a:lstStyle/>
          <a:p>
            <a:pPr indent="0" marL="0">
              <a:buNone/>
            </a:pPr>
            <a:r>
              <a:rPr lang="en-US" sz="1500" b="1" dirty="0">
                <a:solidFill>
                  <a:srgbClr val="8C3B2E"/>
                </a:solidFill>
                <a:latin typeface="Calibri" pitchFamily="34" charset="0"/>
                <a:ea typeface="Calibri" pitchFamily="34" charset="-122"/>
                <a:cs typeface="Calibri" pitchFamily="34" charset="-120"/>
              </a:rPr>
              <a:t>■ Old Testament   </a:t>
            </a:r>
            <a:pPr indent="0" marL="0">
              <a:buNone/>
            </a:pPr>
            <a:r>
              <a:rPr lang="en-US" sz="1500" b="1" dirty="0">
                <a:solidFill>
                  <a:srgbClr val="2E5E8C"/>
                </a:solidFill>
                <a:latin typeface="Calibri" pitchFamily="34" charset="0"/>
                <a:ea typeface="Calibri" pitchFamily="34" charset="-122"/>
                <a:cs typeface="Calibri" pitchFamily="34" charset="-120"/>
              </a:rPr>
              <a:t>■ New Testament</a:t>
            </a:r>
            <a:endParaRPr lang="en-US" sz="1500" dirty="0"/>
          </a:p>
        </p:txBody>
      </p:sp>
      <p:sp>
        <p:nvSpPr>
          <p:cNvPr id="4" name="Shape 2"/>
          <p:cNvSpPr/>
          <p:nvPr/>
        </p:nvSpPr>
        <p:spPr>
          <a:xfrm>
            <a:off x="731520" y="1828800"/>
            <a:ext cx="1297534" cy="2057400"/>
          </a:xfrm>
          <a:prstGeom prst="roundRect">
            <a:avLst>
              <a:gd name="adj" fmla="val 8457"/>
            </a:avLst>
          </a:prstGeom>
          <a:solidFill>
            <a:srgbClr val="F7ECEA"/>
          </a:solidFill>
          <a:ln w="12700">
            <a:solidFill>
              <a:srgbClr val="E6CFCA"/>
            </a:solidFill>
            <a:prstDash val="solid"/>
          </a:ln>
        </p:spPr>
      </p:sp>
      <p:sp>
        <p:nvSpPr>
          <p:cNvPr id="5" name="Shape 3"/>
          <p:cNvSpPr/>
          <p:nvPr/>
        </p:nvSpPr>
        <p:spPr>
          <a:xfrm>
            <a:off x="868680" y="1965960"/>
            <a:ext cx="502920" cy="502920"/>
          </a:xfrm>
          <a:prstGeom prst="ellipse">
            <a:avLst/>
          </a:prstGeom>
          <a:solidFill>
            <a:srgbClr val="8C3B2E"/>
          </a:solidFill>
          <a:ln/>
        </p:spPr>
      </p:sp>
      <p:sp>
        <p:nvSpPr>
          <p:cNvPr id="6" name="Text 4"/>
          <p:cNvSpPr txBox="1"/>
          <p:nvPr/>
        </p:nvSpPr>
        <p:spPr>
          <a:xfrm>
            <a:off x="868680"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pic>
        <p:nvPicPr>
          <p:cNvPr id="7" name="Image 0" descr="icons/1.png">    </p:cNvPr>
          <p:cNvPicPr>
            <a:picLocks noChangeAspect="1"/>
          </p:cNvPicPr>
          <p:nvPr/>
        </p:nvPicPr>
        <p:blipFill>
          <a:blip r:embed="rId1"/>
          <a:stretch>
            <a:fillRect/>
          </a:stretch>
        </p:blipFill>
        <p:spPr>
          <a:xfrm>
            <a:off x="1526134" y="1965960"/>
            <a:ext cx="365760" cy="365760"/>
          </a:xfrm>
          <a:prstGeom prst="rect">
            <a:avLst/>
          </a:prstGeom>
        </p:spPr>
      </p:pic>
      <p:sp>
        <p:nvSpPr>
          <p:cNvPr id="8" name="Text 5"/>
          <p:cNvSpPr txBox="1"/>
          <p:nvPr/>
        </p:nvSpPr>
        <p:spPr>
          <a:xfrm>
            <a:off x="868680" y="256032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Creation &amp; Early World</a:t>
            </a:r>
            <a:endParaRPr lang="en-US" sz="1150" dirty="0"/>
          </a:p>
        </p:txBody>
      </p:sp>
      <p:sp>
        <p:nvSpPr>
          <p:cNvPr id="9" name="Text 6"/>
          <p:cNvSpPr txBox="1"/>
          <p:nvPr/>
        </p:nvSpPr>
        <p:spPr>
          <a:xfrm>
            <a:off x="868680" y="333756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The Beginning</a:t>
            </a:r>
            <a:endParaRPr lang="en-US" sz="1100" dirty="0"/>
          </a:p>
        </p:txBody>
      </p:sp>
      <p:sp>
        <p:nvSpPr>
          <p:cNvPr id="10" name="Shape 7"/>
          <p:cNvSpPr/>
          <p:nvPr/>
        </p:nvSpPr>
        <p:spPr>
          <a:xfrm>
            <a:off x="2303374" y="1828800"/>
            <a:ext cx="1297534" cy="2057400"/>
          </a:xfrm>
          <a:prstGeom prst="roundRect">
            <a:avLst>
              <a:gd name="adj" fmla="val 8457"/>
            </a:avLst>
          </a:prstGeom>
          <a:solidFill>
            <a:srgbClr val="F7ECEA"/>
          </a:solidFill>
          <a:ln w="12700">
            <a:solidFill>
              <a:srgbClr val="E6CFCA"/>
            </a:solidFill>
            <a:prstDash val="solid"/>
          </a:ln>
        </p:spPr>
      </p:sp>
      <p:sp>
        <p:nvSpPr>
          <p:cNvPr id="11" name="Shape 8"/>
          <p:cNvSpPr/>
          <p:nvPr/>
        </p:nvSpPr>
        <p:spPr>
          <a:xfrm>
            <a:off x="2440534" y="1965960"/>
            <a:ext cx="502920" cy="502920"/>
          </a:xfrm>
          <a:prstGeom prst="ellipse">
            <a:avLst/>
          </a:prstGeom>
          <a:solidFill>
            <a:srgbClr val="8C3B2E"/>
          </a:solidFill>
          <a:ln/>
        </p:spPr>
      </p:sp>
      <p:sp>
        <p:nvSpPr>
          <p:cNvPr id="12" name="Text 9"/>
          <p:cNvSpPr txBox="1"/>
          <p:nvPr/>
        </p:nvSpPr>
        <p:spPr>
          <a:xfrm>
            <a:off x="2440534"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pic>
        <p:nvPicPr>
          <p:cNvPr id="13" name="Image 1" descr="icons/2.png">    </p:cNvPr>
          <p:cNvPicPr>
            <a:picLocks noChangeAspect="1"/>
          </p:cNvPicPr>
          <p:nvPr/>
        </p:nvPicPr>
        <p:blipFill>
          <a:blip r:embed="rId2"/>
          <a:stretch>
            <a:fillRect/>
          </a:stretch>
        </p:blipFill>
        <p:spPr>
          <a:xfrm>
            <a:off x="3097987" y="1965960"/>
            <a:ext cx="365760" cy="365760"/>
          </a:xfrm>
          <a:prstGeom prst="rect">
            <a:avLst/>
          </a:prstGeom>
        </p:spPr>
      </p:pic>
      <p:sp>
        <p:nvSpPr>
          <p:cNvPr id="14" name="Text 10"/>
          <p:cNvSpPr txBox="1"/>
          <p:nvPr/>
        </p:nvSpPr>
        <p:spPr>
          <a:xfrm>
            <a:off x="2440534" y="256032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The Patriarchs</a:t>
            </a:r>
            <a:endParaRPr lang="en-US" sz="1150" dirty="0"/>
          </a:p>
        </p:txBody>
      </p:sp>
      <p:sp>
        <p:nvSpPr>
          <p:cNvPr id="15" name="Text 11"/>
          <p:cNvSpPr txBox="1"/>
          <p:nvPr/>
        </p:nvSpPr>
        <p:spPr>
          <a:xfrm>
            <a:off x="2440534" y="333756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2100–1800 BC</a:t>
            </a:r>
            <a:endParaRPr lang="en-US" sz="1100" dirty="0"/>
          </a:p>
        </p:txBody>
      </p:sp>
      <p:sp>
        <p:nvSpPr>
          <p:cNvPr id="16" name="Shape 12"/>
          <p:cNvSpPr/>
          <p:nvPr/>
        </p:nvSpPr>
        <p:spPr>
          <a:xfrm>
            <a:off x="3875227" y="1828800"/>
            <a:ext cx="1297534" cy="2057400"/>
          </a:xfrm>
          <a:prstGeom prst="roundRect">
            <a:avLst>
              <a:gd name="adj" fmla="val 8457"/>
            </a:avLst>
          </a:prstGeom>
          <a:solidFill>
            <a:srgbClr val="F7ECEA"/>
          </a:solidFill>
          <a:ln w="12700">
            <a:solidFill>
              <a:srgbClr val="E6CFCA"/>
            </a:solidFill>
            <a:prstDash val="solid"/>
          </a:ln>
        </p:spPr>
      </p:sp>
      <p:sp>
        <p:nvSpPr>
          <p:cNvPr id="17" name="Shape 13"/>
          <p:cNvSpPr/>
          <p:nvPr/>
        </p:nvSpPr>
        <p:spPr>
          <a:xfrm>
            <a:off x="4012387" y="1965960"/>
            <a:ext cx="502920" cy="502920"/>
          </a:xfrm>
          <a:prstGeom prst="ellipse">
            <a:avLst/>
          </a:prstGeom>
          <a:solidFill>
            <a:srgbClr val="8C3B2E"/>
          </a:solidFill>
          <a:ln/>
        </p:spPr>
      </p:sp>
      <p:sp>
        <p:nvSpPr>
          <p:cNvPr id="18" name="Text 14"/>
          <p:cNvSpPr txBox="1"/>
          <p:nvPr/>
        </p:nvSpPr>
        <p:spPr>
          <a:xfrm>
            <a:off x="4012387"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pic>
        <p:nvPicPr>
          <p:cNvPr id="19" name="Image 2" descr="icons/3.png">    </p:cNvPr>
          <p:cNvPicPr>
            <a:picLocks noChangeAspect="1"/>
          </p:cNvPicPr>
          <p:nvPr/>
        </p:nvPicPr>
        <p:blipFill>
          <a:blip r:embed="rId3"/>
          <a:stretch>
            <a:fillRect/>
          </a:stretch>
        </p:blipFill>
        <p:spPr>
          <a:xfrm>
            <a:off x="4669841" y="1965960"/>
            <a:ext cx="365760" cy="365760"/>
          </a:xfrm>
          <a:prstGeom prst="rect">
            <a:avLst/>
          </a:prstGeom>
        </p:spPr>
      </p:pic>
      <p:sp>
        <p:nvSpPr>
          <p:cNvPr id="20" name="Text 15"/>
          <p:cNvSpPr txBox="1"/>
          <p:nvPr/>
        </p:nvSpPr>
        <p:spPr>
          <a:xfrm>
            <a:off x="4012387" y="256032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Exodus &amp; Wilderness</a:t>
            </a:r>
            <a:endParaRPr lang="en-US" sz="1150" dirty="0"/>
          </a:p>
        </p:txBody>
      </p:sp>
      <p:sp>
        <p:nvSpPr>
          <p:cNvPr id="21" name="Text 16"/>
          <p:cNvSpPr txBox="1"/>
          <p:nvPr/>
        </p:nvSpPr>
        <p:spPr>
          <a:xfrm>
            <a:off x="4012387" y="333756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1450–1400 BC</a:t>
            </a:r>
            <a:endParaRPr lang="en-US" sz="1100" dirty="0"/>
          </a:p>
        </p:txBody>
      </p:sp>
      <p:sp>
        <p:nvSpPr>
          <p:cNvPr id="22" name="Shape 17"/>
          <p:cNvSpPr/>
          <p:nvPr/>
        </p:nvSpPr>
        <p:spPr>
          <a:xfrm>
            <a:off x="5447081" y="1828800"/>
            <a:ext cx="1297534" cy="2057400"/>
          </a:xfrm>
          <a:prstGeom prst="roundRect">
            <a:avLst>
              <a:gd name="adj" fmla="val 8457"/>
            </a:avLst>
          </a:prstGeom>
          <a:solidFill>
            <a:srgbClr val="F7ECEA"/>
          </a:solidFill>
          <a:ln w="12700">
            <a:solidFill>
              <a:srgbClr val="E6CFCA"/>
            </a:solidFill>
            <a:prstDash val="solid"/>
          </a:ln>
        </p:spPr>
      </p:sp>
      <p:sp>
        <p:nvSpPr>
          <p:cNvPr id="23" name="Shape 18"/>
          <p:cNvSpPr/>
          <p:nvPr/>
        </p:nvSpPr>
        <p:spPr>
          <a:xfrm>
            <a:off x="5584241" y="1965960"/>
            <a:ext cx="502920" cy="502920"/>
          </a:xfrm>
          <a:prstGeom prst="ellipse">
            <a:avLst/>
          </a:prstGeom>
          <a:solidFill>
            <a:srgbClr val="8C3B2E"/>
          </a:solidFill>
          <a:ln/>
        </p:spPr>
      </p:sp>
      <p:sp>
        <p:nvSpPr>
          <p:cNvPr id="24" name="Text 19"/>
          <p:cNvSpPr txBox="1"/>
          <p:nvPr/>
        </p:nvSpPr>
        <p:spPr>
          <a:xfrm>
            <a:off x="5584241"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pic>
        <p:nvPicPr>
          <p:cNvPr id="25" name="Image 3" descr="icons/4.png">    </p:cNvPr>
          <p:cNvPicPr>
            <a:picLocks noChangeAspect="1"/>
          </p:cNvPicPr>
          <p:nvPr/>
        </p:nvPicPr>
        <p:blipFill>
          <a:blip r:embed="rId4"/>
          <a:stretch>
            <a:fillRect/>
          </a:stretch>
        </p:blipFill>
        <p:spPr>
          <a:xfrm>
            <a:off x="6241694" y="1965960"/>
            <a:ext cx="365760" cy="365760"/>
          </a:xfrm>
          <a:prstGeom prst="rect">
            <a:avLst/>
          </a:prstGeom>
        </p:spPr>
      </p:pic>
      <p:sp>
        <p:nvSpPr>
          <p:cNvPr id="26" name="Text 20"/>
          <p:cNvSpPr txBox="1"/>
          <p:nvPr/>
        </p:nvSpPr>
        <p:spPr>
          <a:xfrm>
            <a:off x="5584241" y="256032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Conquest &amp; Judges</a:t>
            </a:r>
            <a:endParaRPr lang="en-US" sz="1150" dirty="0"/>
          </a:p>
        </p:txBody>
      </p:sp>
      <p:sp>
        <p:nvSpPr>
          <p:cNvPr id="27" name="Text 21"/>
          <p:cNvSpPr txBox="1"/>
          <p:nvPr/>
        </p:nvSpPr>
        <p:spPr>
          <a:xfrm>
            <a:off x="5584241" y="333756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1400–1050 BC</a:t>
            </a:r>
            <a:endParaRPr lang="en-US" sz="1100" dirty="0"/>
          </a:p>
        </p:txBody>
      </p:sp>
      <p:sp>
        <p:nvSpPr>
          <p:cNvPr id="28" name="Shape 22"/>
          <p:cNvSpPr/>
          <p:nvPr/>
        </p:nvSpPr>
        <p:spPr>
          <a:xfrm>
            <a:off x="7018934" y="1828800"/>
            <a:ext cx="1297534" cy="2057400"/>
          </a:xfrm>
          <a:prstGeom prst="roundRect">
            <a:avLst>
              <a:gd name="adj" fmla="val 8457"/>
            </a:avLst>
          </a:prstGeom>
          <a:solidFill>
            <a:srgbClr val="F7ECEA"/>
          </a:solidFill>
          <a:ln w="12700">
            <a:solidFill>
              <a:srgbClr val="E6CFCA"/>
            </a:solidFill>
            <a:prstDash val="solid"/>
          </a:ln>
        </p:spPr>
      </p:sp>
      <p:sp>
        <p:nvSpPr>
          <p:cNvPr id="29" name="Shape 23"/>
          <p:cNvSpPr/>
          <p:nvPr/>
        </p:nvSpPr>
        <p:spPr>
          <a:xfrm>
            <a:off x="7156094" y="1965960"/>
            <a:ext cx="502920" cy="502920"/>
          </a:xfrm>
          <a:prstGeom prst="ellipse">
            <a:avLst/>
          </a:prstGeom>
          <a:solidFill>
            <a:srgbClr val="8C3B2E"/>
          </a:solidFill>
          <a:ln/>
        </p:spPr>
      </p:sp>
      <p:sp>
        <p:nvSpPr>
          <p:cNvPr id="30" name="Text 24"/>
          <p:cNvSpPr txBox="1"/>
          <p:nvPr/>
        </p:nvSpPr>
        <p:spPr>
          <a:xfrm>
            <a:off x="7156094"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pic>
        <p:nvPicPr>
          <p:cNvPr id="31" name="Image 4" descr="icons/5.png">    </p:cNvPr>
          <p:cNvPicPr>
            <a:picLocks noChangeAspect="1"/>
          </p:cNvPicPr>
          <p:nvPr/>
        </p:nvPicPr>
        <p:blipFill>
          <a:blip r:embed="rId5"/>
          <a:stretch>
            <a:fillRect/>
          </a:stretch>
        </p:blipFill>
        <p:spPr>
          <a:xfrm>
            <a:off x="7813548" y="1965960"/>
            <a:ext cx="365760" cy="365760"/>
          </a:xfrm>
          <a:prstGeom prst="rect">
            <a:avLst/>
          </a:prstGeom>
        </p:spPr>
      </p:pic>
      <p:sp>
        <p:nvSpPr>
          <p:cNvPr id="32" name="Text 25"/>
          <p:cNvSpPr txBox="1"/>
          <p:nvPr/>
        </p:nvSpPr>
        <p:spPr>
          <a:xfrm>
            <a:off x="7156094" y="256032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The United Kingdom</a:t>
            </a:r>
            <a:endParaRPr lang="en-US" sz="1150" dirty="0"/>
          </a:p>
        </p:txBody>
      </p:sp>
      <p:sp>
        <p:nvSpPr>
          <p:cNvPr id="33" name="Text 26"/>
          <p:cNvSpPr txBox="1"/>
          <p:nvPr/>
        </p:nvSpPr>
        <p:spPr>
          <a:xfrm>
            <a:off x="7156094" y="333756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1050–930 BC</a:t>
            </a:r>
            <a:endParaRPr lang="en-US" sz="1100" dirty="0"/>
          </a:p>
        </p:txBody>
      </p:sp>
      <p:sp>
        <p:nvSpPr>
          <p:cNvPr id="34" name="Shape 27"/>
          <p:cNvSpPr/>
          <p:nvPr/>
        </p:nvSpPr>
        <p:spPr>
          <a:xfrm>
            <a:off x="8590788" y="1828800"/>
            <a:ext cx="1297534" cy="2057400"/>
          </a:xfrm>
          <a:prstGeom prst="roundRect">
            <a:avLst>
              <a:gd name="adj" fmla="val 8457"/>
            </a:avLst>
          </a:prstGeom>
          <a:solidFill>
            <a:srgbClr val="F7ECEA"/>
          </a:solidFill>
          <a:ln w="12700">
            <a:solidFill>
              <a:srgbClr val="E6CFCA"/>
            </a:solidFill>
            <a:prstDash val="solid"/>
          </a:ln>
        </p:spPr>
      </p:sp>
      <p:sp>
        <p:nvSpPr>
          <p:cNvPr id="35" name="Shape 28"/>
          <p:cNvSpPr/>
          <p:nvPr/>
        </p:nvSpPr>
        <p:spPr>
          <a:xfrm>
            <a:off x="8727948" y="1965960"/>
            <a:ext cx="502920" cy="502920"/>
          </a:xfrm>
          <a:prstGeom prst="ellipse">
            <a:avLst/>
          </a:prstGeom>
          <a:solidFill>
            <a:srgbClr val="8C3B2E"/>
          </a:solidFill>
          <a:ln/>
        </p:spPr>
      </p:sp>
      <p:sp>
        <p:nvSpPr>
          <p:cNvPr id="36" name="Text 29"/>
          <p:cNvSpPr txBox="1"/>
          <p:nvPr/>
        </p:nvSpPr>
        <p:spPr>
          <a:xfrm>
            <a:off x="8727948"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pic>
        <p:nvPicPr>
          <p:cNvPr id="37" name="Image 5" descr="icons/6.png">    </p:cNvPr>
          <p:cNvPicPr>
            <a:picLocks noChangeAspect="1"/>
          </p:cNvPicPr>
          <p:nvPr/>
        </p:nvPicPr>
        <p:blipFill>
          <a:blip r:embed="rId6"/>
          <a:stretch>
            <a:fillRect/>
          </a:stretch>
        </p:blipFill>
        <p:spPr>
          <a:xfrm>
            <a:off x="9385402" y="1965960"/>
            <a:ext cx="365760" cy="365760"/>
          </a:xfrm>
          <a:prstGeom prst="rect">
            <a:avLst/>
          </a:prstGeom>
        </p:spPr>
      </p:pic>
      <p:sp>
        <p:nvSpPr>
          <p:cNvPr id="38" name="Text 30"/>
          <p:cNvSpPr txBox="1"/>
          <p:nvPr/>
        </p:nvSpPr>
        <p:spPr>
          <a:xfrm>
            <a:off x="8727948" y="256032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The Divided Kingdom</a:t>
            </a:r>
            <a:endParaRPr lang="en-US" sz="1150" dirty="0"/>
          </a:p>
        </p:txBody>
      </p:sp>
      <p:sp>
        <p:nvSpPr>
          <p:cNvPr id="39" name="Text 31"/>
          <p:cNvSpPr txBox="1"/>
          <p:nvPr/>
        </p:nvSpPr>
        <p:spPr>
          <a:xfrm>
            <a:off x="8727948" y="333756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930–586 BC</a:t>
            </a:r>
            <a:endParaRPr lang="en-US" sz="1100" dirty="0"/>
          </a:p>
        </p:txBody>
      </p:sp>
      <p:sp>
        <p:nvSpPr>
          <p:cNvPr id="40" name="Shape 32"/>
          <p:cNvSpPr/>
          <p:nvPr/>
        </p:nvSpPr>
        <p:spPr>
          <a:xfrm>
            <a:off x="10162642" y="1828800"/>
            <a:ext cx="1297534" cy="2057400"/>
          </a:xfrm>
          <a:prstGeom prst="roundRect">
            <a:avLst>
              <a:gd name="adj" fmla="val 8457"/>
            </a:avLst>
          </a:prstGeom>
          <a:solidFill>
            <a:srgbClr val="F7ECEA"/>
          </a:solidFill>
          <a:ln w="12700">
            <a:solidFill>
              <a:srgbClr val="E6CFCA"/>
            </a:solidFill>
            <a:prstDash val="solid"/>
          </a:ln>
        </p:spPr>
      </p:sp>
      <p:sp>
        <p:nvSpPr>
          <p:cNvPr id="41" name="Shape 33"/>
          <p:cNvSpPr/>
          <p:nvPr/>
        </p:nvSpPr>
        <p:spPr>
          <a:xfrm>
            <a:off x="10299802" y="1965960"/>
            <a:ext cx="502920" cy="502920"/>
          </a:xfrm>
          <a:prstGeom prst="ellipse">
            <a:avLst/>
          </a:prstGeom>
          <a:solidFill>
            <a:srgbClr val="8C3B2E"/>
          </a:solidFill>
          <a:ln/>
        </p:spPr>
      </p:sp>
      <p:sp>
        <p:nvSpPr>
          <p:cNvPr id="42" name="Text 34"/>
          <p:cNvSpPr txBox="1"/>
          <p:nvPr/>
        </p:nvSpPr>
        <p:spPr>
          <a:xfrm>
            <a:off x="10299802"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pic>
        <p:nvPicPr>
          <p:cNvPr id="43" name="Image 6" descr="icons/7.png">    </p:cNvPr>
          <p:cNvPicPr>
            <a:picLocks noChangeAspect="1"/>
          </p:cNvPicPr>
          <p:nvPr/>
        </p:nvPicPr>
        <p:blipFill>
          <a:blip r:embed="rId7"/>
          <a:stretch>
            <a:fillRect/>
          </a:stretch>
        </p:blipFill>
        <p:spPr>
          <a:xfrm>
            <a:off x="10957255" y="1965960"/>
            <a:ext cx="365760" cy="365760"/>
          </a:xfrm>
          <a:prstGeom prst="rect">
            <a:avLst/>
          </a:prstGeom>
        </p:spPr>
      </p:pic>
      <p:sp>
        <p:nvSpPr>
          <p:cNvPr id="44" name="Text 35"/>
          <p:cNvSpPr txBox="1"/>
          <p:nvPr/>
        </p:nvSpPr>
        <p:spPr>
          <a:xfrm>
            <a:off x="10299802" y="256032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The Exile</a:t>
            </a:r>
            <a:endParaRPr lang="en-US" sz="1150" dirty="0"/>
          </a:p>
        </p:txBody>
      </p:sp>
      <p:sp>
        <p:nvSpPr>
          <p:cNvPr id="45" name="Text 36"/>
          <p:cNvSpPr txBox="1"/>
          <p:nvPr/>
        </p:nvSpPr>
        <p:spPr>
          <a:xfrm>
            <a:off x="10299802" y="333756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586–538 BC</a:t>
            </a:r>
            <a:endParaRPr lang="en-US" sz="1100" dirty="0"/>
          </a:p>
        </p:txBody>
      </p:sp>
      <p:sp>
        <p:nvSpPr>
          <p:cNvPr id="46" name="Shape 37"/>
          <p:cNvSpPr/>
          <p:nvPr/>
        </p:nvSpPr>
        <p:spPr>
          <a:xfrm>
            <a:off x="731520" y="4160520"/>
            <a:ext cx="1297534" cy="2057400"/>
          </a:xfrm>
          <a:prstGeom prst="roundRect">
            <a:avLst>
              <a:gd name="adj" fmla="val 8457"/>
            </a:avLst>
          </a:prstGeom>
          <a:solidFill>
            <a:srgbClr val="F7ECEA"/>
          </a:solidFill>
          <a:ln w="12700">
            <a:solidFill>
              <a:srgbClr val="E6CFCA"/>
            </a:solidFill>
            <a:prstDash val="solid"/>
          </a:ln>
        </p:spPr>
      </p:sp>
      <p:sp>
        <p:nvSpPr>
          <p:cNvPr id="47" name="Shape 38"/>
          <p:cNvSpPr/>
          <p:nvPr/>
        </p:nvSpPr>
        <p:spPr>
          <a:xfrm>
            <a:off x="868680" y="4297680"/>
            <a:ext cx="502920" cy="502920"/>
          </a:xfrm>
          <a:prstGeom prst="ellipse">
            <a:avLst/>
          </a:prstGeom>
          <a:solidFill>
            <a:srgbClr val="8C3B2E"/>
          </a:solidFill>
          <a:ln/>
        </p:spPr>
      </p:sp>
      <p:sp>
        <p:nvSpPr>
          <p:cNvPr id="48" name="Text 39"/>
          <p:cNvSpPr txBox="1"/>
          <p:nvPr/>
        </p:nvSpPr>
        <p:spPr>
          <a:xfrm>
            <a:off x="868680" y="4297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pic>
        <p:nvPicPr>
          <p:cNvPr id="49" name="Image 7" descr="icons/8.png">    </p:cNvPr>
          <p:cNvPicPr>
            <a:picLocks noChangeAspect="1"/>
          </p:cNvPicPr>
          <p:nvPr/>
        </p:nvPicPr>
        <p:blipFill>
          <a:blip r:embed="rId8"/>
          <a:stretch>
            <a:fillRect/>
          </a:stretch>
        </p:blipFill>
        <p:spPr>
          <a:xfrm>
            <a:off x="1526134" y="4297680"/>
            <a:ext cx="365760" cy="365760"/>
          </a:xfrm>
          <a:prstGeom prst="rect">
            <a:avLst/>
          </a:prstGeom>
        </p:spPr>
      </p:pic>
      <p:sp>
        <p:nvSpPr>
          <p:cNvPr id="50" name="Text 40"/>
          <p:cNvSpPr txBox="1"/>
          <p:nvPr/>
        </p:nvSpPr>
        <p:spPr>
          <a:xfrm>
            <a:off x="868680" y="489204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Return &amp; Rebuilding</a:t>
            </a:r>
            <a:endParaRPr lang="en-US" sz="1150" dirty="0"/>
          </a:p>
        </p:txBody>
      </p:sp>
      <p:sp>
        <p:nvSpPr>
          <p:cNvPr id="51" name="Text 41"/>
          <p:cNvSpPr txBox="1"/>
          <p:nvPr/>
        </p:nvSpPr>
        <p:spPr>
          <a:xfrm>
            <a:off x="868680" y="566928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538–430 BC</a:t>
            </a:r>
            <a:endParaRPr lang="en-US" sz="1100" dirty="0"/>
          </a:p>
        </p:txBody>
      </p:sp>
      <p:sp>
        <p:nvSpPr>
          <p:cNvPr id="52" name="Shape 42"/>
          <p:cNvSpPr/>
          <p:nvPr/>
        </p:nvSpPr>
        <p:spPr>
          <a:xfrm>
            <a:off x="2303374" y="4160520"/>
            <a:ext cx="1297534" cy="2057400"/>
          </a:xfrm>
          <a:prstGeom prst="roundRect">
            <a:avLst>
              <a:gd name="adj" fmla="val 8457"/>
            </a:avLst>
          </a:prstGeom>
          <a:solidFill>
            <a:srgbClr val="F7ECEA"/>
          </a:solidFill>
          <a:ln w="12700">
            <a:solidFill>
              <a:srgbClr val="E6CFCA"/>
            </a:solidFill>
            <a:prstDash val="solid"/>
          </a:ln>
        </p:spPr>
      </p:sp>
      <p:sp>
        <p:nvSpPr>
          <p:cNvPr id="53" name="Shape 43"/>
          <p:cNvSpPr/>
          <p:nvPr/>
        </p:nvSpPr>
        <p:spPr>
          <a:xfrm>
            <a:off x="2440534" y="4297680"/>
            <a:ext cx="502920" cy="502920"/>
          </a:xfrm>
          <a:prstGeom prst="ellipse">
            <a:avLst/>
          </a:prstGeom>
          <a:solidFill>
            <a:srgbClr val="8C3B2E"/>
          </a:solidFill>
          <a:ln/>
        </p:spPr>
      </p:sp>
      <p:sp>
        <p:nvSpPr>
          <p:cNvPr id="54" name="Text 44"/>
          <p:cNvSpPr txBox="1"/>
          <p:nvPr/>
        </p:nvSpPr>
        <p:spPr>
          <a:xfrm>
            <a:off x="2440534" y="4297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pic>
        <p:nvPicPr>
          <p:cNvPr id="55" name="Image 8" descr="icons/9.png">    </p:cNvPr>
          <p:cNvPicPr>
            <a:picLocks noChangeAspect="1"/>
          </p:cNvPicPr>
          <p:nvPr/>
        </p:nvPicPr>
        <p:blipFill>
          <a:blip r:embed="rId9"/>
          <a:stretch>
            <a:fillRect/>
          </a:stretch>
        </p:blipFill>
        <p:spPr>
          <a:xfrm>
            <a:off x="3097987" y="4297680"/>
            <a:ext cx="365760" cy="365760"/>
          </a:xfrm>
          <a:prstGeom prst="rect">
            <a:avLst/>
          </a:prstGeom>
        </p:spPr>
      </p:pic>
      <p:sp>
        <p:nvSpPr>
          <p:cNvPr id="56" name="Text 45"/>
          <p:cNvSpPr txBox="1"/>
          <p:nvPr/>
        </p:nvSpPr>
        <p:spPr>
          <a:xfrm>
            <a:off x="2440534" y="489204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400 Silent Years</a:t>
            </a:r>
            <a:endParaRPr lang="en-US" sz="1150" dirty="0"/>
          </a:p>
        </p:txBody>
      </p:sp>
      <p:sp>
        <p:nvSpPr>
          <p:cNvPr id="57" name="Text 46"/>
          <p:cNvSpPr txBox="1"/>
          <p:nvPr/>
        </p:nvSpPr>
        <p:spPr>
          <a:xfrm>
            <a:off x="2440534" y="566928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430–5 BC</a:t>
            </a:r>
            <a:endParaRPr lang="en-US" sz="1100" dirty="0"/>
          </a:p>
        </p:txBody>
      </p:sp>
      <p:sp>
        <p:nvSpPr>
          <p:cNvPr id="58" name="Shape 47"/>
          <p:cNvSpPr/>
          <p:nvPr/>
        </p:nvSpPr>
        <p:spPr>
          <a:xfrm>
            <a:off x="3875227" y="4160520"/>
            <a:ext cx="1297534" cy="2057400"/>
          </a:xfrm>
          <a:prstGeom prst="roundRect">
            <a:avLst>
              <a:gd name="adj" fmla="val 8457"/>
            </a:avLst>
          </a:prstGeom>
          <a:solidFill>
            <a:srgbClr val="EAF1F8"/>
          </a:solidFill>
          <a:ln w="12700">
            <a:solidFill>
              <a:srgbClr val="CBDCEC"/>
            </a:solidFill>
            <a:prstDash val="solid"/>
          </a:ln>
        </p:spPr>
      </p:sp>
      <p:sp>
        <p:nvSpPr>
          <p:cNvPr id="59" name="Shape 48"/>
          <p:cNvSpPr/>
          <p:nvPr/>
        </p:nvSpPr>
        <p:spPr>
          <a:xfrm>
            <a:off x="4012387" y="4297680"/>
            <a:ext cx="502920" cy="502920"/>
          </a:xfrm>
          <a:prstGeom prst="ellipse">
            <a:avLst/>
          </a:prstGeom>
          <a:solidFill>
            <a:srgbClr val="2E5E8C"/>
          </a:solidFill>
          <a:ln/>
        </p:spPr>
      </p:sp>
      <p:sp>
        <p:nvSpPr>
          <p:cNvPr id="60" name="Text 49"/>
          <p:cNvSpPr txBox="1"/>
          <p:nvPr/>
        </p:nvSpPr>
        <p:spPr>
          <a:xfrm>
            <a:off x="4012387" y="4297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pic>
        <p:nvPicPr>
          <p:cNvPr id="61" name="Image 9" descr="icons/10.png">    </p:cNvPr>
          <p:cNvPicPr>
            <a:picLocks noChangeAspect="1"/>
          </p:cNvPicPr>
          <p:nvPr/>
        </p:nvPicPr>
        <p:blipFill>
          <a:blip r:embed="rId10"/>
          <a:stretch>
            <a:fillRect/>
          </a:stretch>
        </p:blipFill>
        <p:spPr>
          <a:xfrm>
            <a:off x="4669841" y="4297680"/>
            <a:ext cx="365760" cy="365760"/>
          </a:xfrm>
          <a:prstGeom prst="rect">
            <a:avLst/>
          </a:prstGeom>
        </p:spPr>
      </p:pic>
      <p:sp>
        <p:nvSpPr>
          <p:cNvPr id="62" name="Text 50"/>
          <p:cNvSpPr txBox="1"/>
          <p:nvPr/>
        </p:nvSpPr>
        <p:spPr>
          <a:xfrm>
            <a:off x="4012387" y="489204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The Life of Jesus</a:t>
            </a:r>
            <a:endParaRPr lang="en-US" sz="1150" dirty="0"/>
          </a:p>
        </p:txBody>
      </p:sp>
      <p:sp>
        <p:nvSpPr>
          <p:cNvPr id="63" name="Text 51"/>
          <p:cNvSpPr txBox="1"/>
          <p:nvPr/>
        </p:nvSpPr>
        <p:spPr>
          <a:xfrm>
            <a:off x="4012387" y="566928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5 BC – AD 30</a:t>
            </a:r>
            <a:endParaRPr lang="en-US" sz="1100" dirty="0"/>
          </a:p>
        </p:txBody>
      </p:sp>
      <p:sp>
        <p:nvSpPr>
          <p:cNvPr id="64" name="Shape 52"/>
          <p:cNvSpPr/>
          <p:nvPr/>
        </p:nvSpPr>
        <p:spPr>
          <a:xfrm>
            <a:off x="5447081" y="4160520"/>
            <a:ext cx="1297534" cy="2057400"/>
          </a:xfrm>
          <a:prstGeom prst="roundRect">
            <a:avLst>
              <a:gd name="adj" fmla="val 8457"/>
            </a:avLst>
          </a:prstGeom>
          <a:solidFill>
            <a:srgbClr val="EAF1F8"/>
          </a:solidFill>
          <a:ln w="12700">
            <a:solidFill>
              <a:srgbClr val="CBDCEC"/>
            </a:solidFill>
            <a:prstDash val="solid"/>
          </a:ln>
        </p:spPr>
      </p:sp>
      <p:sp>
        <p:nvSpPr>
          <p:cNvPr id="65" name="Shape 53"/>
          <p:cNvSpPr/>
          <p:nvPr/>
        </p:nvSpPr>
        <p:spPr>
          <a:xfrm>
            <a:off x="5584241" y="4297680"/>
            <a:ext cx="502920" cy="502920"/>
          </a:xfrm>
          <a:prstGeom prst="ellipse">
            <a:avLst/>
          </a:prstGeom>
          <a:solidFill>
            <a:srgbClr val="2E5E8C"/>
          </a:solidFill>
          <a:ln/>
        </p:spPr>
      </p:sp>
      <p:sp>
        <p:nvSpPr>
          <p:cNvPr id="66" name="Text 54"/>
          <p:cNvSpPr txBox="1"/>
          <p:nvPr/>
        </p:nvSpPr>
        <p:spPr>
          <a:xfrm>
            <a:off x="5584241" y="4297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pic>
        <p:nvPicPr>
          <p:cNvPr id="67" name="Image 10" descr="icons/11.png">    </p:cNvPr>
          <p:cNvPicPr>
            <a:picLocks noChangeAspect="1"/>
          </p:cNvPicPr>
          <p:nvPr/>
        </p:nvPicPr>
        <p:blipFill>
          <a:blip r:embed="rId11"/>
          <a:stretch>
            <a:fillRect/>
          </a:stretch>
        </p:blipFill>
        <p:spPr>
          <a:xfrm>
            <a:off x="6241694" y="4297680"/>
            <a:ext cx="365760" cy="365760"/>
          </a:xfrm>
          <a:prstGeom prst="rect">
            <a:avLst/>
          </a:prstGeom>
        </p:spPr>
      </p:pic>
      <p:sp>
        <p:nvSpPr>
          <p:cNvPr id="68" name="Text 55"/>
          <p:cNvSpPr txBox="1"/>
          <p:nvPr/>
        </p:nvSpPr>
        <p:spPr>
          <a:xfrm>
            <a:off x="5584241" y="489204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Death &amp; Resurrection</a:t>
            </a:r>
            <a:endParaRPr lang="en-US" sz="1150" dirty="0"/>
          </a:p>
        </p:txBody>
      </p:sp>
      <p:sp>
        <p:nvSpPr>
          <p:cNvPr id="69" name="Text 56"/>
          <p:cNvSpPr txBox="1"/>
          <p:nvPr/>
        </p:nvSpPr>
        <p:spPr>
          <a:xfrm>
            <a:off x="5584241" y="566928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AD 30–33</a:t>
            </a:r>
            <a:endParaRPr lang="en-US" sz="1100" dirty="0"/>
          </a:p>
        </p:txBody>
      </p:sp>
      <p:sp>
        <p:nvSpPr>
          <p:cNvPr id="70" name="Shape 57"/>
          <p:cNvSpPr/>
          <p:nvPr/>
        </p:nvSpPr>
        <p:spPr>
          <a:xfrm>
            <a:off x="7018934" y="4160520"/>
            <a:ext cx="1297534" cy="2057400"/>
          </a:xfrm>
          <a:prstGeom prst="roundRect">
            <a:avLst>
              <a:gd name="adj" fmla="val 8457"/>
            </a:avLst>
          </a:prstGeom>
          <a:solidFill>
            <a:srgbClr val="EAF1F8"/>
          </a:solidFill>
          <a:ln w="12700">
            <a:solidFill>
              <a:srgbClr val="CBDCEC"/>
            </a:solidFill>
            <a:prstDash val="solid"/>
          </a:ln>
        </p:spPr>
      </p:sp>
      <p:sp>
        <p:nvSpPr>
          <p:cNvPr id="71" name="Shape 58"/>
          <p:cNvSpPr/>
          <p:nvPr/>
        </p:nvSpPr>
        <p:spPr>
          <a:xfrm>
            <a:off x="7156094" y="4297680"/>
            <a:ext cx="502920" cy="502920"/>
          </a:xfrm>
          <a:prstGeom prst="ellipse">
            <a:avLst/>
          </a:prstGeom>
          <a:solidFill>
            <a:srgbClr val="2E5E8C"/>
          </a:solidFill>
          <a:ln/>
        </p:spPr>
      </p:sp>
      <p:sp>
        <p:nvSpPr>
          <p:cNvPr id="72" name="Text 59"/>
          <p:cNvSpPr txBox="1"/>
          <p:nvPr/>
        </p:nvSpPr>
        <p:spPr>
          <a:xfrm>
            <a:off x="7156094" y="4297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pic>
        <p:nvPicPr>
          <p:cNvPr id="73" name="Image 11" descr="icons/12.png">    </p:cNvPr>
          <p:cNvPicPr>
            <a:picLocks noChangeAspect="1"/>
          </p:cNvPicPr>
          <p:nvPr/>
        </p:nvPicPr>
        <p:blipFill>
          <a:blip r:embed="rId12"/>
          <a:stretch>
            <a:fillRect/>
          </a:stretch>
        </p:blipFill>
        <p:spPr>
          <a:xfrm>
            <a:off x="7813548" y="4297680"/>
            <a:ext cx="365760" cy="365760"/>
          </a:xfrm>
          <a:prstGeom prst="rect">
            <a:avLst/>
          </a:prstGeom>
        </p:spPr>
      </p:pic>
      <p:sp>
        <p:nvSpPr>
          <p:cNvPr id="74" name="Text 60"/>
          <p:cNvSpPr txBox="1"/>
          <p:nvPr/>
        </p:nvSpPr>
        <p:spPr>
          <a:xfrm>
            <a:off x="7156094" y="489204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The Early Church</a:t>
            </a:r>
            <a:endParaRPr lang="en-US" sz="1150" dirty="0"/>
          </a:p>
        </p:txBody>
      </p:sp>
      <p:sp>
        <p:nvSpPr>
          <p:cNvPr id="75" name="Text 61"/>
          <p:cNvSpPr txBox="1"/>
          <p:nvPr/>
        </p:nvSpPr>
        <p:spPr>
          <a:xfrm>
            <a:off x="7156094" y="566928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AD 33–64</a:t>
            </a:r>
            <a:endParaRPr lang="en-US" sz="1100" dirty="0"/>
          </a:p>
        </p:txBody>
      </p:sp>
      <p:sp>
        <p:nvSpPr>
          <p:cNvPr id="76" name="Shape 62"/>
          <p:cNvSpPr/>
          <p:nvPr/>
        </p:nvSpPr>
        <p:spPr>
          <a:xfrm>
            <a:off x="8590788" y="4160520"/>
            <a:ext cx="1297534" cy="2057400"/>
          </a:xfrm>
          <a:prstGeom prst="roundRect">
            <a:avLst>
              <a:gd name="adj" fmla="val 8457"/>
            </a:avLst>
          </a:prstGeom>
          <a:solidFill>
            <a:srgbClr val="EAF1F8"/>
          </a:solidFill>
          <a:ln w="12700">
            <a:solidFill>
              <a:srgbClr val="CBDCEC"/>
            </a:solidFill>
            <a:prstDash val="solid"/>
          </a:ln>
        </p:spPr>
      </p:sp>
      <p:sp>
        <p:nvSpPr>
          <p:cNvPr id="77" name="Shape 63"/>
          <p:cNvSpPr/>
          <p:nvPr/>
        </p:nvSpPr>
        <p:spPr>
          <a:xfrm>
            <a:off x="8727948" y="4297680"/>
            <a:ext cx="502920" cy="502920"/>
          </a:xfrm>
          <a:prstGeom prst="ellipse">
            <a:avLst/>
          </a:prstGeom>
          <a:solidFill>
            <a:srgbClr val="2E5E8C"/>
          </a:solidFill>
          <a:ln/>
        </p:spPr>
      </p:sp>
      <p:sp>
        <p:nvSpPr>
          <p:cNvPr id="78" name="Text 64"/>
          <p:cNvSpPr txBox="1"/>
          <p:nvPr/>
        </p:nvSpPr>
        <p:spPr>
          <a:xfrm>
            <a:off x="8727948" y="4297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13</a:t>
            </a:r>
            <a:endParaRPr lang="en-US" sz="1600" dirty="0"/>
          </a:p>
        </p:txBody>
      </p:sp>
      <p:pic>
        <p:nvPicPr>
          <p:cNvPr id="79" name="Image 12" descr="icons/13.png">    </p:cNvPr>
          <p:cNvPicPr>
            <a:picLocks noChangeAspect="1"/>
          </p:cNvPicPr>
          <p:nvPr/>
        </p:nvPicPr>
        <p:blipFill>
          <a:blip r:embed="rId13"/>
          <a:stretch>
            <a:fillRect/>
          </a:stretch>
        </p:blipFill>
        <p:spPr>
          <a:xfrm>
            <a:off x="9385402" y="4297680"/>
            <a:ext cx="365760" cy="365760"/>
          </a:xfrm>
          <a:prstGeom prst="rect">
            <a:avLst/>
          </a:prstGeom>
        </p:spPr>
      </p:pic>
      <p:sp>
        <p:nvSpPr>
          <p:cNvPr id="80" name="Text 65"/>
          <p:cNvSpPr txBox="1"/>
          <p:nvPr/>
        </p:nvSpPr>
        <p:spPr>
          <a:xfrm>
            <a:off x="8727948" y="489204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The Letters</a:t>
            </a:r>
            <a:endParaRPr lang="en-US" sz="1150" dirty="0"/>
          </a:p>
        </p:txBody>
      </p:sp>
      <p:sp>
        <p:nvSpPr>
          <p:cNvPr id="81" name="Text 66"/>
          <p:cNvSpPr txBox="1"/>
          <p:nvPr/>
        </p:nvSpPr>
        <p:spPr>
          <a:xfrm>
            <a:off x="8727948" y="566928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AD 48–95</a:t>
            </a:r>
            <a:endParaRPr lang="en-US" sz="1100" dirty="0"/>
          </a:p>
        </p:txBody>
      </p:sp>
      <p:sp>
        <p:nvSpPr>
          <p:cNvPr id="82" name="Shape 67"/>
          <p:cNvSpPr/>
          <p:nvPr/>
        </p:nvSpPr>
        <p:spPr>
          <a:xfrm>
            <a:off x="10162642" y="4160520"/>
            <a:ext cx="1297534" cy="2057400"/>
          </a:xfrm>
          <a:prstGeom prst="roundRect">
            <a:avLst>
              <a:gd name="adj" fmla="val 8457"/>
            </a:avLst>
          </a:prstGeom>
          <a:solidFill>
            <a:srgbClr val="EAF1F8"/>
          </a:solidFill>
          <a:ln w="12700">
            <a:solidFill>
              <a:srgbClr val="CBDCEC"/>
            </a:solidFill>
            <a:prstDash val="solid"/>
          </a:ln>
        </p:spPr>
      </p:sp>
      <p:sp>
        <p:nvSpPr>
          <p:cNvPr id="83" name="Shape 68"/>
          <p:cNvSpPr/>
          <p:nvPr/>
        </p:nvSpPr>
        <p:spPr>
          <a:xfrm>
            <a:off x="10299802" y="4297680"/>
            <a:ext cx="502920" cy="502920"/>
          </a:xfrm>
          <a:prstGeom prst="ellipse">
            <a:avLst/>
          </a:prstGeom>
          <a:solidFill>
            <a:srgbClr val="2E5E8C"/>
          </a:solidFill>
          <a:ln/>
        </p:spPr>
      </p:sp>
      <p:sp>
        <p:nvSpPr>
          <p:cNvPr id="84" name="Text 69"/>
          <p:cNvSpPr txBox="1"/>
          <p:nvPr/>
        </p:nvSpPr>
        <p:spPr>
          <a:xfrm>
            <a:off x="10299802" y="4297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14</a:t>
            </a:r>
            <a:endParaRPr lang="en-US" sz="1600" dirty="0"/>
          </a:p>
        </p:txBody>
      </p:sp>
      <p:pic>
        <p:nvPicPr>
          <p:cNvPr id="85" name="Image 13" descr="icons/14.png">    </p:cNvPr>
          <p:cNvPicPr>
            <a:picLocks noChangeAspect="1"/>
          </p:cNvPicPr>
          <p:nvPr/>
        </p:nvPicPr>
        <p:blipFill>
          <a:blip r:embed="rId14"/>
          <a:stretch>
            <a:fillRect/>
          </a:stretch>
        </p:blipFill>
        <p:spPr>
          <a:xfrm>
            <a:off x="10957255" y="4297680"/>
            <a:ext cx="365760" cy="365760"/>
          </a:xfrm>
          <a:prstGeom prst="rect">
            <a:avLst/>
          </a:prstGeom>
        </p:spPr>
      </p:pic>
      <p:sp>
        <p:nvSpPr>
          <p:cNvPr id="86" name="Text 70"/>
          <p:cNvSpPr txBox="1"/>
          <p:nvPr/>
        </p:nvSpPr>
        <p:spPr>
          <a:xfrm>
            <a:off x="10299802" y="4892040"/>
            <a:ext cx="1023214" cy="731520"/>
          </a:xfrm>
          <a:prstGeom prst="rect">
            <a:avLst/>
          </a:prstGeom>
          <a:noFill/>
          <a:ln/>
        </p:spPr>
        <p:txBody>
          <a:bodyPr wrap="square" lIns="0" tIns="0" rIns="0" bIns="0" rtlCol="0" anchor="t"/>
          <a:lstStyle/>
          <a:p>
            <a:pPr indent="0" marL="0">
              <a:buNone/>
            </a:pPr>
            <a:r>
              <a:rPr lang="en-US" sz="1150" b="1" dirty="0">
                <a:solidFill>
                  <a:srgbClr val="1F2433"/>
                </a:solidFill>
                <a:latin typeface="Calibri" pitchFamily="34" charset="0"/>
                <a:ea typeface="Calibri" pitchFamily="34" charset="-122"/>
                <a:cs typeface="Calibri" pitchFamily="34" charset="-120"/>
              </a:rPr>
              <a:t>Revelation</a:t>
            </a:r>
            <a:endParaRPr lang="en-US" sz="1150" dirty="0"/>
          </a:p>
        </p:txBody>
      </p:sp>
      <p:sp>
        <p:nvSpPr>
          <p:cNvPr id="87" name="Text 71"/>
          <p:cNvSpPr txBox="1"/>
          <p:nvPr/>
        </p:nvSpPr>
        <p:spPr>
          <a:xfrm>
            <a:off x="10299802" y="5669280"/>
            <a:ext cx="1023214" cy="411480"/>
          </a:xfrm>
          <a:prstGeom prst="rect">
            <a:avLst/>
          </a:prstGeom>
          <a:noFill/>
          <a:ln/>
        </p:spPr>
        <p:txBody>
          <a:bodyPr wrap="square" lIns="0" tIns="0" rIns="0" bIns="0" rtlCol="0" anchor="t"/>
          <a:lstStyle/>
          <a:p>
            <a:pPr indent="0" marL="0">
              <a:buNone/>
            </a:pPr>
            <a:r>
              <a:rPr lang="en-US" sz="1100" dirty="0">
                <a:solidFill>
                  <a:srgbClr val="5B6275"/>
                </a:solidFill>
                <a:latin typeface="Calibri" pitchFamily="34" charset="0"/>
                <a:ea typeface="Calibri" pitchFamily="34" charset="-122"/>
                <a:cs typeface="Calibri" pitchFamily="34" charset="-120"/>
              </a:rPr>
              <a:t>c. AD 95</a:t>
            </a:r>
            <a:endParaRPr lang="en-US" sz="1100" dirty="0"/>
          </a:p>
        </p:txBody>
      </p:sp>
      <p:pic>
        <p:nvPicPr>
          <p:cNvPr id="17" name="Media 0">
            <a:hlinkClick r:id="" action="ppaction://media"/>
          </p:cNvPr>
          <p:cNvPicPr>
            <a:picLocks noChangeAspect="1"/>
          </p:cNvPicPr>
          <p:nvPr>
            <a:videoFile r:link="rId15"/>
            <p:extLst>
              <p:ext uri="{DAA4B4D4-6D71-4841-9C94-3DE7FCFB9230}">
                <p14:media xmlns:p14="http://schemas.microsoft.com/office/powerpoint/2010/main" r:embed="rId16"/>
              </p:ext>
            </p:extLst>
          </p:nvPr>
        </p:nvPicPr>
        <p:blipFill>
          <a:blip r:embed="rId17"/>
          <a:stretch>
            <a:fillRect/>
          </a:stretch>
        </p:blipFill>
        <p:spPr>
          <a:xfrm>
            <a:off x="11323015" y="365760"/>
            <a:ext cx="457200"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1</a:t>
            </a:r>
            <a:endParaRPr lang="en-US" sz="4800" dirty="0"/>
          </a:p>
        </p:txBody>
      </p:sp>
      <p:pic>
        <p:nvPicPr>
          <p:cNvPr id="5" name="Image 0" descr="icons/1.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OLD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The Beginning</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Genesis 1–11</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Creation &amp; Early World</a:t>
            </a:r>
            <a:endParaRPr lang="en-US" sz="3800" dirty="0"/>
          </a:p>
        </p:txBody>
      </p:sp>
      <p:sp>
        <p:nvSpPr>
          <p:cNvPr id="11" name="Shape 8"/>
          <p:cNvSpPr/>
          <p:nvPr/>
        </p:nvSpPr>
        <p:spPr>
          <a:xfrm>
            <a:off x="4846320" y="1965960"/>
            <a:ext cx="411480" cy="411480"/>
          </a:xfrm>
          <a:prstGeom prst="ellipse">
            <a:avLst/>
          </a:prstGeom>
          <a:solidFill>
            <a:srgbClr val="8C3B2E"/>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God creates the heavens, the earth and humanity</a:t>
            </a:r>
            <a:endParaRPr lang="en-US" sz="1800" dirty="0"/>
          </a:p>
        </p:txBody>
      </p:sp>
      <p:sp>
        <p:nvSpPr>
          <p:cNvPr id="14" name="Shape 11"/>
          <p:cNvSpPr/>
          <p:nvPr/>
        </p:nvSpPr>
        <p:spPr>
          <a:xfrm>
            <a:off x="4846320" y="2880360"/>
            <a:ext cx="411480" cy="411480"/>
          </a:xfrm>
          <a:prstGeom prst="ellipse">
            <a:avLst/>
          </a:prstGeom>
          <a:solidFill>
            <a:srgbClr val="8C3B2E"/>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Adam and Eve, the Fall, and Cain and Abel</a:t>
            </a:r>
            <a:endParaRPr lang="en-US" sz="1800" dirty="0"/>
          </a:p>
        </p:txBody>
      </p:sp>
      <p:sp>
        <p:nvSpPr>
          <p:cNvPr id="17" name="Shape 14"/>
          <p:cNvSpPr/>
          <p:nvPr/>
        </p:nvSpPr>
        <p:spPr>
          <a:xfrm>
            <a:off x="4846320" y="3794760"/>
            <a:ext cx="411480" cy="411480"/>
          </a:xfrm>
          <a:prstGeom prst="ellipse">
            <a:avLst/>
          </a:prstGeom>
          <a:solidFill>
            <a:srgbClr val="8C3B2E"/>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Noah, the Flood and God's covenant rainbow</a:t>
            </a:r>
            <a:endParaRPr lang="en-US" sz="1800" dirty="0"/>
          </a:p>
        </p:txBody>
      </p:sp>
      <p:sp>
        <p:nvSpPr>
          <p:cNvPr id="20" name="Shape 17"/>
          <p:cNvSpPr/>
          <p:nvPr/>
        </p:nvSpPr>
        <p:spPr>
          <a:xfrm>
            <a:off x="4846320" y="4709160"/>
            <a:ext cx="411480" cy="411480"/>
          </a:xfrm>
          <a:prstGeom prst="ellipse">
            <a:avLst/>
          </a:prstGeom>
          <a:solidFill>
            <a:srgbClr val="8C3B2E"/>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The Tower of Babel scatters the nations</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12648" y="6190488"/>
            <a:ext cx="237744" cy="237744"/>
          </a:xfrm>
          <a:prstGeom prst="ellipse">
            <a:avLst/>
          </a:prstGeom>
          <a:solidFill>
            <a:srgbClr val="D4A437"/>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2</a:t>
            </a:r>
            <a:endParaRPr lang="en-US" sz="4800" dirty="0"/>
          </a:p>
        </p:txBody>
      </p:sp>
      <p:pic>
        <p:nvPicPr>
          <p:cNvPr id="5" name="Image 0" descr="icons/2.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OLD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2100–1800 BC</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Genesis 12–50 · Job</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The Patriarchs</a:t>
            </a:r>
            <a:endParaRPr lang="en-US" sz="3800" dirty="0"/>
          </a:p>
        </p:txBody>
      </p:sp>
      <p:sp>
        <p:nvSpPr>
          <p:cNvPr id="11" name="Shape 8"/>
          <p:cNvSpPr/>
          <p:nvPr/>
        </p:nvSpPr>
        <p:spPr>
          <a:xfrm>
            <a:off x="4846320" y="1965960"/>
            <a:ext cx="411480" cy="411480"/>
          </a:xfrm>
          <a:prstGeom prst="ellipse">
            <a:avLst/>
          </a:prstGeom>
          <a:solidFill>
            <a:srgbClr val="8C3B2E"/>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God calls Abraham and promises a great nation</a:t>
            </a:r>
            <a:endParaRPr lang="en-US" sz="1800" dirty="0"/>
          </a:p>
        </p:txBody>
      </p:sp>
      <p:sp>
        <p:nvSpPr>
          <p:cNvPr id="14" name="Shape 11"/>
          <p:cNvSpPr/>
          <p:nvPr/>
        </p:nvSpPr>
        <p:spPr>
          <a:xfrm>
            <a:off x="4846320" y="2880360"/>
            <a:ext cx="411480" cy="411480"/>
          </a:xfrm>
          <a:prstGeom prst="ellipse">
            <a:avLst/>
          </a:prstGeom>
          <a:solidFill>
            <a:srgbClr val="8C3B2E"/>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Isaac, Jacob and the twelve tribes of Israel</a:t>
            </a:r>
            <a:endParaRPr lang="en-US" sz="1800" dirty="0"/>
          </a:p>
        </p:txBody>
      </p:sp>
      <p:sp>
        <p:nvSpPr>
          <p:cNvPr id="17" name="Shape 14"/>
          <p:cNvSpPr/>
          <p:nvPr/>
        </p:nvSpPr>
        <p:spPr>
          <a:xfrm>
            <a:off x="4846320" y="3794760"/>
            <a:ext cx="411480" cy="411480"/>
          </a:xfrm>
          <a:prstGeom prst="ellipse">
            <a:avLst/>
          </a:prstGeom>
          <a:solidFill>
            <a:srgbClr val="8C3B2E"/>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Joseph is sold into slavery and rises in Egypt</a:t>
            </a:r>
            <a:endParaRPr lang="en-US" sz="1800" dirty="0"/>
          </a:p>
        </p:txBody>
      </p:sp>
      <p:sp>
        <p:nvSpPr>
          <p:cNvPr id="20" name="Shape 17"/>
          <p:cNvSpPr/>
          <p:nvPr/>
        </p:nvSpPr>
        <p:spPr>
          <a:xfrm>
            <a:off x="4846320" y="4709160"/>
            <a:ext cx="411480" cy="411480"/>
          </a:xfrm>
          <a:prstGeom prst="ellipse">
            <a:avLst/>
          </a:prstGeom>
          <a:solidFill>
            <a:srgbClr val="8C3B2E"/>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Job's story of suffering and faith is often placed here</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37929" y="6190488"/>
            <a:ext cx="237744" cy="237744"/>
          </a:xfrm>
          <a:prstGeom prst="ellipse">
            <a:avLst/>
          </a:prstGeom>
          <a:solidFill>
            <a:srgbClr val="D4A437"/>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3</a:t>
            </a:r>
            <a:endParaRPr lang="en-US" sz="4800" dirty="0"/>
          </a:p>
        </p:txBody>
      </p:sp>
      <p:pic>
        <p:nvPicPr>
          <p:cNvPr id="5" name="Image 0" descr="icons/3.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OLD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1450–1400 BC</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Exodus · Leviticus · Numbers · Deuteronomy</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Exodus &amp; Wilderness</a:t>
            </a:r>
            <a:endParaRPr lang="en-US" sz="3800" dirty="0"/>
          </a:p>
        </p:txBody>
      </p:sp>
      <p:sp>
        <p:nvSpPr>
          <p:cNvPr id="11" name="Shape 8"/>
          <p:cNvSpPr/>
          <p:nvPr/>
        </p:nvSpPr>
        <p:spPr>
          <a:xfrm>
            <a:off x="4846320" y="1965960"/>
            <a:ext cx="411480" cy="411480"/>
          </a:xfrm>
          <a:prstGeom prst="ellipse">
            <a:avLst/>
          </a:prstGeom>
          <a:solidFill>
            <a:srgbClr val="8C3B2E"/>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Moses leads Israel out of slavery in Egypt</a:t>
            </a:r>
            <a:endParaRPr lang="en-US" sz="1800" dirty="0"/>
          </a:p>
        </p:txBody>
      </p:sp>
      <p:sp>
        <p:nvSpPr>
          <p:cNvPr id="14" name="Shape 11"/>
          <p:cNvSpPr/>
          <p:nvPr/>
        </p:nvSpPr>
        <p:spPr>
          <a:xfrm>
            <a:off x="4846320" y="2880360"/>
            <a:ext cx="411480" cy="411480"/>
          </a:xfrm>
          <a:prstGeom prst="ellipse">
            <a:avLst/>
          </a:prstGeom>
          <a:solidFill>
            <a:srgbClr val="8C3B2E"/>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The Ten Plagues and crossing of the Red Sea</a:t>
            </a:r>
            <a:endParaRPr lang="en-US" sz="1800" dirty="0"/>
          </a:p>
        </p:txBody>
      </p:sp>
      <p:sp>
        <p:nvSpPr>
          <p:cNvPr id="17" name="Shape 14"/>
          <p:cNvSpPr/>
          <p:nvPr/>
        </p:nvSpPr>
        <p:spPr>
          <a:xfrm>
            <a:off x="4846320" y="3794760"/>
            <a:ext cx="411480" cy="411480"/>
          </a:xfrm>
          <a:prstGeom prst="ellipse">
            <a:avLst/>
          </a:prstGeom>
          <a:solidFill>
            <a:srgbClr val="8C3B2E"/>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The Law and the Ten Commandments at Mount Sinai</a:t>
            </a:r>
            <a:endParaRPr lang="en-US" sz="1800" dirty="0"/>
          </a:p>
        </p:txBody>
      </p:sp>
      <p:sp>
        <p:nvSpPr>
          <p:cNvPr id="20" name="Shape 17"/>
          <p:cNvSpPr/>
          <p:nvPr/>
        </p:nvSpPr>
        <p:spPr>
          <a:xfrm>
            <a:off x="4846320" y="4709160"/>
            <a:ext cx="411480" cy="411480"/>
          </a:xfrm>
          <a:prstGeom prst="ellipse">
            <a:avLst/>
          </a:prstGeom>
          <a:solidFill>
            <a:srgbClr val="8C3B2E"/>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Forty years of wandering in the wilderness</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263210" y="6190488"/>
            <a:ext cx="237744" cy="237744"/>
          </a:xfrm>
          <a:prstGeom prst="ellipse">
            <a:avLst/>
          </a:prstGeom>
          <a:solidFill>
            <a:srgbClr val="D4A437"/>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4</a:t>
            </a:r>
            <a:endParaRPr lang="en-US" sz="4800" dirty="0"/>
          </a:p>
        </p:txBody>
      </p:sp>
      <p:pic>
        <p:nvPicPr>
          <p:cNvPr id="5" name="Image 0" descr="icons/4.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OLD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1400–1050 BC</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Joshua · Judges · Ruth</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Conquest &amp; Judges</a:t>
            </a:r>
            <a:endParaRPr lang="en-US" sz="3800" dirty="0"/>
          </a:p>
        </p:txBody>
      </p:sp>
      <p:sp>
        <p:nvSpPr>
          <p:cNvPr id="11" name="Shape 8"/>
          <p:cNvSpPr/>
          <p:nvPr/>
        </p:nvSpPr>
        <p:spPr>
          <a:xfrm>
            <a:off x="4846320" y="1965960"/>
            <a:ext cx="411480" cy="411480"/>
          </a:xfrm>
          <a:prstGeom prst="ellipse">
            <a:avLst/>
          </a:prstGeom>
          <a:solidFill>
            <a:srgbClr val="8C3B2E"/>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Joshua leads Israel into the Promised Land</a:t>
            </a:r>
            <a:endParaRPr lang="en-US" sz="1800" dirty="0"/>
          </a:p>
        </p:txBody>
      </p:sp>
      <p:sp>
        <p:nvSpPr>
          <p:cNvPr id="14" name="Shape 11"/>
          <p:cNvSpPr/>
          <p:nvPr/>
        </p:nvSpPr>
        <p:spPr>
          <a:xfrm>
            <a:off x="4846320" y="2880360"/>
            <a:ext cx="411480" cy="411480"/>
          </a:xfrm>
          <a:prstGeom prst="ellipse">
            <a:avLst/>
          </a:prstGeom>
          <a:solidFill>
            <a:srgbClr val="8C3B2E"/>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The walls of Jericho fall</a:t>
            </a:r>
            <a:endParaRPr lang="en-US" sz="1800" dirty="0"/>
          </a:p>
        </p:txBody>
      </p:sp>
      <p:sp>
        <p:nvSpPr>
          <p:cNvPr id="17" name="Shape 14"/>
          <p:cNvSpPr/>
          <p:nvPr/>
        </p:nvSpPr>
        <p:spPr>
          <a:xfrm>
            <a:off x="4846320" y="3794760"/>
            <a:ext cx="411480" cy="411480"/>
          </a:xfrm>
          <a:prstGeom prst="ellipse">
            <a:avLst/>
          </a:prstGeom>
          <a:solidFill>
            <a:srgbClr val="8C3B2E"/>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Judges like Deborah, Gideon and Samson</a:t>
            </a:r>
            <a:endParaRPr lang="en-US" sz="1800" dirty="0"/>
          </a:p>
        </p:txBody>
      </p:sp>
      <p:sp>
        <p:nvSpPr>
          <p:cNvPr id="20" name="Shape 17"/>
          <p:cNvSpPr/>
          <p:nvPr/>
        </p:nvSpPr>
        <p:spPr>
          <a:xfrm>
            <a:off x="4846320" y="4709160"/>
            <a:ext cx="411480" cy="411480"/>
          </a:xfrm>
          <a:prstGeom prst="ellipse">
            <a:avLst/>
          </a:prstGeom>
          <a:solidFill>
            <a:srgbClr val="8C3B2E"/>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Ruth's loyalty leads to the line of King David</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088492" y="6190488"/>
            <a:ext cx="237744" cy="237744"/>
          </a:xfrm>
          <a:prstGeom prst="ellipse">
            <a:avLst/>
          </a:prstGeom>
          <a:solidFill>
            <a:srgbClr val="D4A437"/>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5</a:t>
            </a:r>
            <a:endParaRPr lang="en-US" sz="4800" dirty="0"/>
          </a:p>
        </p:txBody>
      </p:sp>
      <p:pic>
        <p:nvPicPr>
          <p:cNvPr id="5" name="Image 0" descr="icons/5.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OLD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1050–930 BC</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1–2 Samuel · 1 Kings 1–11 · Psalms · Proverbs</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The United Kingdom</a:t>
            </a:r>
            <a:endParaRPr lang="en-US" sz="3800" dirty="0"/>
          </a:p>
        </p:txBody>
      </p:sp>
      <p:sp>
        <p:nvSpPr>
          <p:cNvPr id="11" name="Shape 8"/>
          <p:cNvSpPr/>
          <p:nvPr/>
        </p:nvSpPr>
        <p:spPr>
          <a:xfrm>
            <a:off x="4846320" y="1965960"/>
            <a:ext cx="411480" cy="411480"/>
          </a:xfrm>
          <a:prstGeom prst="ellipse">
            <a:avLst/>
          </a:prstGeom>
          <a:solidFill>
            <a:srgbClr val="8C3B2E"/>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Samuel anoints Saul as Israel's first king</a:t>
            </a:r>
            <a:endParaRPr lang="en-US" sz="1800" dirty="0"/>
          </a:p>
        </p:txBody>
      </p:sp>
      <p:sp>
        <p:nvSpPr>
          <p:cNvPr id="14" name="Shape 11"/>
          <p:cNvSpPr/>
          <p:nvPr/>
        </p:nvSpPr>
        <p:spPr>
          <a:xfrm>
            <a:off x="4846320" y="2880360"/>
            <a:ext cx="411480" cy="411480"/>
          </a:xfrm>
          <a:prstGeom prst="ellipse">
            <a:avLst/>
          </a:prstGeom>
          <a:solidFill>
            <a:srgbClr val="8C3B2E"/>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David defeats Goliath and becomes king</a:t>
            </a:r>
            <a:endParaRPr lang="en-US" sz="1800" dirty="0"/>
          </a:p>
        </p:txBody>
      </p:sp>
      <p:sp>
        <p:nvSpPr>
          <p:cNvPr id="17" name="Shape 14"/>
          <p:cNvSpPr/>
          <p:nvPr/>
        </p:nvSpPr>
        <p:spPr>
          <a:xfrm>
            <a:off x="4846320" y="3794760"/>
            <a:ext cx="411480" cy="411480"/>
          </a:xfrm>
          <a:prstGeom prst="ellipse">
            <a:avLst/>
          </a:prstGeom>
          <a:solidFill>
            <a:srgbClr val="8C3B2E"/>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David writes many Psalms; Jerusalem becomes capital</a:t>
            </a:r>
            <a:endParaRPr lang="en-US" sz="1800" dirty="0"/>
          </a:p>
        </p:txBody>
      </p:sp>
      <p:sp>
        <p:nvSpPr>
          <p:cNvPr id="20" name="Shape 17"/>
          <p:cNvSpPr/>
          <p:nvPr/>
        </p:nvSpPr>
        <p:spPr>
          <a:xfrm>
            <a:off x="4846320" y="4709160"/>
            <a:ext cx="411480" cy="411480"/>
          </a:xfrm>
          <a:prstGeom prst="ellipse">
            <a:avLst/>
          </a:prstGeom>
          <a:solidFill>
            <a:srgbClr val="8C3B2E"/>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Solomon builds the Temple and writes wisdom</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13773" y="6190488"/>
            <a:ext cx="237744" cy="237744"/>
          </a:xfrm>
          <a:prstGeom prst="ellipse">
            <a:avLst/>
          </a:prstGeom>
          <a:solidFill>
            <a:srgbClr val="D4A437"/>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6</a:t>
            </a:r>
            <a:endParaRPr lang="en-US" sz="4800" dirty="0"/>
          </a:p>
        </p:txBody>
      </p:sp>
      <p:pic>
        <p:nvPicPr>
          <p:cNvPr id="5" name="Image 0" descr="icons/6.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OLD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930–586 BC</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1–2 Kings · 2 Chronicles · Isaiah · Hosea · Amos · Jonah</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The Divided Kingdom</a:t>
            </a:r>
            <a:endParaRPr lang="en-US" sz="3800" dirty="0"/>
          </a:p>
        </p:txBody>
      </p:sp>
      <p:sp>
        <p:nvSpPr>
          <p:cNvPr id="11" name="Shape 8"/>
          <p:cNvSpPr/>
          <p:nvPr/>
        </p:nvSpPr>
        <p:spPr>
          <a:xfrm>
            <a:off x="4846320" y="1965960"/>
            <a:ext cx="411480" cy="411480"/>
          </a:xfrm>
          <a:prstGeom prst="ellipse">
            <a:avLst/>
          </a:prstGeom>
          <a:solidFill>
            <a:srgbClr val="8C3B2E"/>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The kingdom splits into Israel (north) and Judah (south)</a:t>
            </a:r>
            <a:endParaRPr lang="en-US" sz="1800" dirty="0"/>
          </a:p>
        </p:txBody>
      </p:sp>
      <p:sp>
        <p:nvSpPr>
          <p:cNvPr id="14" name="Shape 11"/>
          <p:cNvSpPr/>
          <p:nvPr/>
        </p:nvSpPr>
        <p:spPr>
          <a:xfrm>
            <a:off x="4846320" y="2880360"/>
            <a:ext cx="411480" cy="411480"/>
          </a:xfrm>
          <a:prstGeom prst="ellipse">
            <a:avLst/>
          </a:prstGeom>
          <a:solidFill>
            <a:srgbClr val="8C3B2E"/>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Prophets Elijah and Elisha confront idolatry</a:t>
            </a:r>
            <a:endParaRPr lang="en-US" sz="1800" dirty="0"/>
          </a:p>
        </p:txBody>
      </p:sp>
      <p:sp>
        <p:nvSpPr>
          <p:cNvPr id="17" name="Shape 14"/>
          <p:cNvSpPr/>
          <p:nvPr/>
        </p:nvSpPr>
        <p:spPr>
          <a:xfrm>
            <a:off x="4846320" y="3794760"/>
            <a:ext cx="411480" cy="411480"/>
          </a:xfrm>
          <a:prstGeom prst="ellipse">
            <a:avLst/>
          </a:prstGeom>
          <a:solidFill>
            <a:srgbClr val="8C3B2E"/>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Isaiah, Hosea, Amos and Jonah call people back to God</a:t>
            </a:r>
            <a:endParaRPr lang="en-US" sz="1800" dirty="0"/>
          </a:p>
        </p:txBody>
      </p:sp>
      <p:sp>
        <p:nvSpPr>
          <p:cNvPr id="20" name="Shape 17"/>
          <p:cNvSpPr/>
          <p:nvPr/>
        </p:nvSpPr>
        <p:spPr>
          <a:xfrm>
            <a:off x="4846320" y="4709160"/>
            <a:ext cx="411480" cy="411480"/>
          </a:xfrm>
          <a:prstGeom prst="ellipse">
            <a:avLst/>
          </a:prstGeom>
          <a:solidFill>
            <a:srgbClr val="8C3B2E"/>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Assyria conquers the northern kingdom in 722 BC</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39054" y="6190488"/>
            <a:ext cx="237744" cy="237744"/>
          </a:xfrm>
          <a:prstGeom prst="ellipse">
            <a:avLst/>
          </a:prstGeom>
          <a:solidFill>
            <a:srgbClr val="D4A437"/>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7</a:t>
            </a:r>
            <a:endParaRPr lang="en-US" sz="4800" dirty="0"/>
          </a:p>
        </p:txBody>
      </p:sp>
      <p:pic>
        <p:nvPicPr>
          <p:cNvPr id="5" name="Image 0" descr="icons/7.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OLD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586–538 BC</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Jeremiah · Lamentations · Ezekiel · Daniel</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The Exile</a:t>
            </a:r>
            <a:endParaRPr lang="en-US" sz="3800" dirty="0"/>
          </a:p>
        </p:txBody>
      </p:sp>
      <p:sp>
        <p:nvSpPr>
          <p:cNvPr id="11" name="Shape 8"/>
          <p:cNvSpPr/>
          <p:nvPr/>
        </p:nvSpPr>
        <p:spPr>
          <a:xfrm>
            <a:off x="4846320" y="1965960"/>
            <a:ext cx="411480" cy="411480"/>
          </a:xfrm>
          <a:prstGeom prst="ellipse">
            <a:avLst/>
          </a:prstGeom>
          <a:solidFill>
            <a:srgbClr val="8C3B2E"/>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Babylon destroys Jerusalem and the Temple</a:t>
            </a:r>
            <a:endParaRPr lang="en-US" sz="1800" dirty="0"/>
          </a:p>
        </p:txBody>
      </p:sp>
      <p:sp>
        <p:nvSpPr>
          <p:cNvPr id="14" name="Shape 11"/>
          <p:cNvSpPr/>
          <p:nvPr/>
        </p:nvSpPr>
        <p:spPr>
          <a:xfrm>
            <a:off x="4846320" y="2880360"/>
            <a:ext cx="411480" cy="411480"/>
          </a:xfrm>
          <a:prstGeom prst="ellipse">
            <a:avLst/>
          </a:prstGeom>
          <a:solidFill>
            <a:srgbClr val="8C3B2E"/>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Judah is carried into exile in Babylon</a:t>
            </a:r>
            <a:endParaRPr lang="en-US" sz="1800" dirty="0"/>
          </a:p>
        </p:txBody>
      </p:sp>
      <p:sp>
        <p:nvSpPr>
          <p:cNvPr id="17" name="Shape 14"/>
          <p:cNvSpPr/>
          <p:nvPr/>
        </p:nvSpPr>
        <p:spPr>
          <a:xfrm>
            <a:off x="4846320" y="3794760"/>
            <a:ext cx="411480" cy="411480"/>
          </a:xfrm>
          <a:prstGeom prst="ellipse">
            <a:avLst/>
          </a:prstGeom>
          <a:solidFill>
            <a:srgbClr val="8C3B2E"/>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Daniel in the lions' den; the fiery furnace</a:t>
            </a:r>
            <a:endParaRPr lang="en-US" sz="1800" dirty="0"/>
          </a:p>
        </p:txBody>
      </p:sp>
      <p:sp>
        <p:nvSpPr>
          <p:cNvPr id="20" name="Shape 17"/>
          <p:cNvSpPr/>
          <p:nvPr/>
        </p:nvSpPr>
        <p:spPr>
          <a:xfrm>
            <a:off x="4846320" y="4709160"/>
            <a:ext cx="411480" cy="411480"/>
          </a:xfrm>
          <a:prstGeom prst="ellipse">
            <a:avLst/>
          </a:prstGeom>
          <a:solidFill>
            <a:srgbClr val="8C3B2E"/>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Jeremiah and Ezekiel promise future restoration</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564335" y="6190488"/>
            <a:ext cx="237744" cy="237744"/>
          </a:xfrm>
          <a:prstGeom prst="ellipse">
            <a:avLst/>
          </a:prstGeom>
          <a:solidFill>
            <a:srgbClr val="D4A437"/>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8</a:t>
            </a:r>
            <a:endParaRPr lang="en-US" sz="4800" dirty="0"/>
          </a:p>
        </p:txBody>
      </p:sp>
      <p:pic>
        <p:nvPicPr>
          <p:cNvPr id="5" name="Image 0" descr="icons/8.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OLD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538–430 BC</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Ezra · Nehemiah · Esther · Haggai · Zechariah · Malachi</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Return &amp; Rebuilding</a:t>
            </a:r>
            <a:endParaRPr lang="en-US" sz="3800" dirty="0"/>
          </a:p>
        </p:txBody>
      </p:sp>
      <p:sp>
        <p:nvSpPr>
          <p:cNvPr id="11" name="Shape 8"/>
          <p:cNvSpPr/>
          <p:nvPr/>
        </p:nvSpPr>
        <p:spPr>
          <a:xfrm>
            <a:off x="4846320" y="1965960"/>
            <a:ext cx="411480" cy="411480"/>
          </a:xfrm>
          <a:prstGeom prst="ellipse">
            <a:avLst/>
          </a:prstGeom>
          <a:solidFill>
            <a:srgbClr val="8C3B2E"/>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Persia lets the Jews return home</a:t>
            </a:r>
            <a:endParaRPr lang="en-US" sz="1800" dirty="0"/>
          </a:p>
        </p:txBody>
      </p:sp>
      <p:sp>
        <p:nvSpPr>
          <p:cNvPr id="14" name="Shape 11"/>
          <p:cNvSpPr/>
          <p:nvPr/>
        </p:nvSpPr>
        <p:spPr>
          <a:xfrm>
            <a:off x="4846320" y="2880360"/>
            <a:ext cx="411480" cy="411480"/>
          </a:xfrm>
          <a:prstGeom prst="ellipse">
            <a:avLst/>
          </a:prstGeom>
          <a:solidFill>
            <a:srgbClr val="8C3B2E"/>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The Temple is rebuilt under Zerubbabel</a:t>
            </a:r>
            <a:endParaRPr lang="en-US" sz="1800" dirty="0"/>
          </a:p>
        </p:txBody>
      </p:sp>
      <p:sp>
        <p:nvSpPr>
          <p:cNvPr id="17" name="Shape 14"/>
          <p:cNvSpPr/>
          <p:nvPr/>
        </p:nvSpPr>
        <p:spPr>
          <a:xfrm>
            <a:off x="4846320" y="3794760"/>
            <a:ext cx="411480" cy="411480"/>
          </a:xfrm>
          <a:prstGeom prst="ellipse">
            <a:avLst/>
          </a:prstGeom>
          <a:solidFill>
            <a:srgbClr val="8C3B2E"/>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Queen Esther saves her people in Persia</a:t>
            </a:r>
            <a:endParaRPr lang="en-US" sz="1800" dirty="0"/>
          </a:p>
        </p:txBody>
      </p:sp>
      <p:sp>
        <p:nvSpPr>
          <p:cNvPr id="20" name="Shape 17"/>
          <p:cNvSpPr/>
          <p:nvPr/>
        </p:nvSpPr>
        <p:spPr>
          <a:xfrm>
            <a:off x="4846320" y="4709160"/>
            <a:ext cx="411480" cy="411480"/>
          </a:xfrm>
          <a:prstGeom prst="ellipse">
            <a:avLst/>
          </a:prstGeom>
          <a:solidFill>
            <a:srgbClr val="8C3B2E"/>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Nehemiah rebuilds Jerusalem's walls; Malachi closes the Old Testament</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389616" y="6190488"/>
            <a:ext cx="237744" cy="237744"/>
          </a:xfrm>
          <a:prstGeom prst="ellipse">
            <a:avLst/>
          </a:prstGeom>
          <a:solidFill>
            <a:srgbClr val="D4A437"/>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9</a:t>
            </a:r>
            <a:endParaRPr lang="en-US" sz="4800" dirty="0"/>
          </a:p>
        </p:txBody>
      </p:sp>
      <p:pic>
        <p:nvPicPr>
          <p:cNvPr id="5" name="Image 0" descr="icons/9.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BETWEEN THE TESTAMENTS</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430–5 BC</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Between the Testaments</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400 Silent Years</a:t>
            </a:r>
            <a:endParaRPr lang="en-US" sz="3800" dirty="0"/>
          </a:p>
        </p:txBody>
      </p:sp>
      <p:sp>
        <p:nvSpPr>
          <p:cNvPr id="11" name="Shape 8"/>
          <p:cNvSpPr/>
          <p:nvPr/>
        </p:nvSpPr>
        <p:spPr>
          <a:xfrm>
            <a:off x="4846320" y="1965960"/>
            <a:ext cx="411480" cy="411480"/>
          </a:xfrm>
          <a:prstGeom prst="ellipse">
            <a:avLst/>
          </a:prstGeom>
          <a:solidFill>
            <a:srgbClr val="8C3B2E"/>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No new biblical prophets for about 400 years</a:t>
            </a:r>
            <a:endParaRPr lang="en-US" sz="1800" dirty="0"/>
          </a:p>
        </p:txBody>
      </p:sp>
      <p:sp>
        <p:nvSpPr>
          <p:cNvPr id="14" name="Shape 11"/>
          <p:cNvSpPr/>
          <p:nvPr/>
        </p:nvSpPr>
        <p:spPr>
          <a:xfrm>
            <a:off x="4846320" y="2880360"/>
            <a:ext cx="411480" cy="411480"/>
          </a:xfrm>
          <a:prstGeom prst="ellipse">
            <a:avLst/>
          </a:prstGeom>
          <a:solidFill>
            <a:srgbClr val="8C3B2E"/>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Greek and then Roman empires rule Judea</a:t>
            </a:r>
            <a:endParaRPr lang="en-US" sz="1800" dirty="0"/>
          </a:p>
        </p:txBody>
      </p:sp>
      <p:sp>
        <p:nvSpPr>
          <p:cNvPr id="17" name="Shape 14"/>
          <p:cNvSpPr/>
          <p:nvPr/>
        </p:nvSpPr>
        <p:spPr>
          <a:xfrm>
            <a:off x="4846320" y="3794760"/>
            <a:ext cx="411480" cy="411480"/>
          </a:xfrm>
          <a:prstGeom prst="ellipse">
            <a:avLst/>
          </a:prstGeom>
          <a:solidFill>
            <a:srgbClr val="8C3B2E"/>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The Maccabean revolt and rededication of the Temple</a:t>
            </a:r>
            <a:endParaRPr lang="en-US" sz="1800" dirty="0"/>
          </a:p>
        </p:txBody>
      </p:sp>
      <p:sp>
        <p:nvSpPr>
          <p:cNvPr id="20" name="Shape 17"/>
          <p:cNvSpPr/>
          <p:nvPr/>
        </p:nvSpPr>
        <p:spPr>
          <a:xfrm>
            <a:off x="4846320" y="4709160"/>
            <a:ext cx="411480" cy="411480"/>
          </a:xfrm>
          <a:prstGeom prst="ellipse">
            <a:avLst/>
          </a:prstGeom>
          <a:solidFill>
            <a:srgbClr val="8C3B2E"/>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Synagogues spread and hope for a Messiah grows</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14897" y="6190488"/>
            <a:ext cx="237744" cy="237744"/>
          </a:xfrm>
          <a:prstGeom prst="ellipse">
            <a:avLst/>
          </a:prstGeom>
          <a:solidFill>
            <a:srgbClr val="D4A437"/>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10</a:t>
            </a:r>
            <a:endParaRPr lang="en-US" sz="4800" dirty="0"/>
          </a:p>
        </p:txBody>
      </p:sp>
      <p:pic>
        <p:nvPicPr>
          <p:cNvPr id="5" name="Image 0" descr="icons/10.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NEW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5 BC – AD 30</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Matthew · Mark · Luke · John</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The Life of Jesus</a:t>
            </a:r>
            <a:endParaRPr lang="en-US" sz="3800" dirty="0"/>
          </a:p>
        </p:txBody>
      </p:sp>
      <p:sp>
        <p:nvSpPr>
          <p:cNvPr id="11" name="Shape 8"/>
          <p:cNvSpPr/>
          <p:nvPr/>
        </p:nvSpPr>
        <p:spPr>
          <a:xfrm>
            <a:off x="4846320" y="1965960"/>
            <a:ext cx="411480" cy="411480"/>
          </a:xfrm>
          <a:prstGeom prst="ellipse">
            <a:avLst/>
          </a:prstGeom>
          <a:solidFill>
            <a:srgbClr val="2E5E8C"/>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Jesus is born in Bethlehem</a:t>
            </a:r>
            <a:endParaRPr lang="en-US" sz="1800" dirty="0"/>
          </a:p>
        </p:txBody>
      </p:sp>
      <p:sp>
        <p:nvSpPr>
          <p:cNvPr id="14" name="Shape 11"/>
          <p:cNvSpPr/>
          <p:nvPr/>
        </p:nvSpPr>
        <p:spPr>
          <a:xfrm>
            <a:off x="4846320" y="2880360"/>
            <a:ext cx="411480" cy="411480"/>
          </a:xfrm>
          <a:prstGeom prst="ellipse">
            <a:avLst/>
          </a:prstGeom>
          <a:solidFill>
            <a:srgbClr val="2E5E8C"/>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John the Baptist prepares the way</a:t>
            </a:r>
            <a:endParaRPr lang="en-US" sz="1800" dirty="0"/>
          </a:p>
        </p:txBody>
      </p:sp>
      <p:sp>
        <p:nvSpPr>
          <p:cNvPr id="17" name="Shape 14"/>
          <p:cNvSpPr/>
          <p:nvPr/>
        </p:nvSpPr>
        <p:spPr>
          <a:xfrm>
            <a:off x="4846320" y="3794760"/>
            <a:ext cx="411480" cy="411480"/>
          </a:xfrm>
          <a:prstGeom prst="ellipse">
            <a:avLst/>
          </a:prstGeom>
          <a:solidFill>
            <a:srgbClr val="2E5E8C"/>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Jesus teaches, heals and calls twelve disciples</a:t>
            </a:r>
            <a:endParaRPr lang="en-US" sz="1800" dirty="0"/>
          </a:p>
        </p:txBody>
      </p:sp>
      <p:sp>
        <p:nvSpPr>
          <p:cNvPr id="20" name="Shape 17"/>
          <p:cNvSpPr/>
          <p:nvPr/>
        </p:nvSpPr>
        <p:spPr>
          <a:xfrm>
            <a:off x="4846320" y="4709160"/>
            <a:ext cx="411480" cy="411480"/>
          </a:xfrm>
          <a:prstGeom prst="ellipse">
            <a:avLst/>
          </a:prstGeom>
          <a:solidFill>
            <a:srgbClr val="2E5E8C"/>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The Sermon on the Mount and the parables</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40179" y="6190488"/>
            <a:ext cx="237744" cy="237744"/>
          </a:xfrm>
          <a:prstGeom prst="ellipse">
            <a:avLst/>
          </a:prstGeom>
          <a:solidFill>
            <a:srgbClr val="D4A437"/>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11</a:t>
            </a:r>
            <a:endParaRPr lang="en-US" sz="4800" dirty="0"/>
          </a:p>
        </p:txBody>
      </p:sp>
      <p:pic>
        <p:nvPicPr>
          <p:cNvPr id="5" name="Image 0" descr="icons/11.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NEW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AD 30–33</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The Gospels</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Death &amp; Resurrection</a:t>
            </a:r>
            <a:endParaRPr lang="en-US" sz="3800" dirty="0"/>
          </a:p>
        </p:txBody>
      </p:sp>
      <p:sp>
        <p:nvSpPr>
          <p:cNvPr id="11" name="Shape 8"/>
          <p:cNvSpPr/>
          <p:nvPr/>
        </p:nvSpPr>
        <p:spPr>
          <a:xfrm>
            <a:off x="4846320" y="1965960"/>
            <a:ext cx="411480" cy="411480"/>
          </a:xfrm>
          <a:prstGeom prst="ellipse">
            <a:avLst/>
          </a:prstGeom>
          <a:solidFill>
            <a:srgbClr val="2E5E8C"/>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The Last Supper with his disciples</a:t>
            </a:r>
            <a:endParaRPr lang="en-US" sz="1800" dirty="0"/>
          </a:p>
        </p:txBody>
      </p:sp>
      <p:sp>
        <p:nvSpPr>
          <p:cNvPr id="14" name="Shape 11"/>
          <p:cNvSpPr/>
          <p:nvPr/>
        </p:nvSpPr>
        <p:spPr>
          <a:xfrm>
            <a:off x="4846320" y="2880360"/>
            <a:ext cx="411480" cy="411480"/>
          </a:xfrm>
          <a:prstGeom prst="ellipse">
            <a:avLst/>
          </a:prstGeom>
          <a:solidFill>
            <a:srgbClr val="2E5E8C"/>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Jesus is crucified in Jerusalem</a:t>
            </a:r>
            <a:endParaRPr lang="en-US" sz="1800" dirty="0"/>
          </a:p>
        </p:txBody>
      </p:sp>
      <p:sp>
        <p:nvSpPr>
          <p:cNvPr id="17" name="Shape 14"/>
          <p:cNvSpPr/>
          <p:nvPr/>
        </p:nvSpPr>
        <p:spPr>
          <a:xfrm>
            <a:off x="4846320" y="3794760"/>
            <a:ext cx="411480" cy="411480"/>
          </a:xfrm>
          <a:prstGeom prst="ellipse">
            <a:avLst/>
          </a:prstGeom>
          <a:solidFill>
            <a:srgbClr val="2E5E8C"/>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He rises from the dead on the third day</a:t>
            </a:r>
            <a:endParaRPr lang="en-US" sz="1800" dirty="0"/>
          </a:p>
        </p:txBody>
      </p:sp>
      <p:sp>
        <p:nvSpPr>
          <p:cNvPr id="20" name="Shape 17"/>
          <p:cNvSpPr/>
          <p:nvPr/>
        </p:nvSpPr>
        <p:spPr>
          <a:xfrm>
            <a:off x="4846320" y="4709160"/>
            <a:ext cx="411480" cy="411480"/>
          </a:xfrm>
          <a:prstGeom prst="ellipse">
            <a:avLst/>
          </a:prstGeom>
          <a:solidFill>
            <a:srgbClr val="2E5E8C"/>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He ascends to heaven after forty days</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865460" y="6190488"/>
            <a:ext cx="237744" cy="237744"/>
          </a:xfrm>
          <a:prstGeom prst="ellipse">
            <a:avLst/>
          </a:prstGeom>
          <a:solidFill>
            <a:srgbClr val="D4A437"/>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12</a:t>
            </a:r>
            <a:endParaRPr lang="en-US" sz="4800" dirty="0"/>
          </a:p>
        </p:txBody>
      </p:sp>
      <p:pic>
        <p:nvPicPr>
          <p:cNvPr id="5" name="Image 0" descr="icons/12.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NEW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AD 33–64</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Acts</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The Early Church</a:t>
            </a:r>
            <a:endParaRPr lang="en-US" sz="3800" dirty="0"/>
          </a:p>
        </p:txBody>
      </p:sp>
      <p:sp>
        <p:nvSpPr>
          <p:cNvPr id="11" name="Shape 8"/>
          <p:cNvSpPr/>
          <p:nvPr/>
        </p:nvSpPr>
        <p:spPr>
          <a:xfrm>
            <a:off x="4846320" y="1965960"/>
            <a:ext cx="411480" cy="411480"/>
          </a:xfrm>
          <a:prstGeom prst="ellipse">
            <a:avLst/>
          </a:prstGeom>
          <a:solidFill>
            <a:srgbClr val="2E5E8C"/>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The Holy Spirit comes at Pentecost</a:t>
            </a:r>
            <a:endParaRPr lang="en-US" sz="1800" dirty="0"/>
          </a:p>
        </p:txBody>
      </p:sp>
      <p:sp>
        <p:nvSpPr>
          <p:cNvPr id="14" name="Shape 11"/>
          <p:cNvSpPr/>
          <p:nvPr/>
        </p:nvSpPr>
        <p:spPr>
          <a:xfrm>
            <a:off x="4846320" y="2880360"/>
            <a:ext cx="411480" cy="411480"/>
          </a:xfrm>
          <a:prstGeom prst="ellipse">
            <a:avLst/>
          </a:prstGeom>
          <a:solidFill>
            <a:srgbClr val="2E5E8C"/>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Peter preaches and thousands believe</a:t>
            </a:r>
            <a:endParaRPr lang="en-US" sz="1800" dirty="0"/>
          </a:p>
        </p:txBody>
      </p:sp>
      <p:sp>
        <p:nvSpPr>
          <p:cNvPr id="17" name="Shape 14"/>
          <p:cNvSpPr/>
          <p:nvPr/>
        </p:nvSpPr>
        <p:spPr>
          <a:xfrm>
            <a:off x="4846320" y="3794760"/>
            <a:ext cx="411480" cy="411480"/>
          </a:xfrm>
          <a:prstGeom prst="ellipse">
            <a:avLst/>
          </a:prstGeom>
          <a:solidFill>
            <a:srgbClr val="2E5E8C"/>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Saul meets Jesus and becomes the apostle Paul</a:t>
            </a:r>
            <a:endParaRPr lang="en-US" sz="1800" dirty="0"/>
          </a:p>
        </p:txBody>
      </p:sp>
      <p:sp>
        <p:nvSpPr>
          <p:cNvPr id="20" name="Shape 17"/>
          <p:cNvSpPr/>
          <p:nvPr/>
        </p:nvSpPr>
        <p:spPr>
          <a:xfrm>
            <a:off x="4846320" y="4709160"/>
            <a:ext cx="411480" cy="411480"/>
          </a:xfrm>
          <a:prstGeom prst="ellipse">
            <a:avLst/>
          </a:prstGeom>
          <a:solidFill>
            <a:srgbClr val="2E5E8C"/>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Paul's missionary journeys across the Roman world</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690741" y="6190488"/>
            <a:ext cx="237744" cy="237744"/>
          </a:xfrm>
          <a:prstGeom prst="ellipse">
            <a:avLst/>
          </a:prstGeom>
          <a:solidFill>
            <a:srgbClr val="D4A437"/>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13</a:t>
            </a:r>
            <a:endParaRPr lang="en-US" sz="4800" dirty="0"/>
          </a:p>
        </p:txBody>
      </p:sp>
      <p:pic>
        <p:nvPicPr>
          <p:cNvPr id="5" name="Image 0" descr="icons/13.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NEW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AD 48–95</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Romans – Jude</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The Letters</a:t>
            </a:r>
            <a:endParaRPr lang="en-US" sz="3800" dirty="0"/>
          </a:p>
        </p:txBody>
      </p:sp>
      <p:sp>
        <p:nvSpPr>
          <p:cNvPr id="11" name="Shape 8"/>
          <p:cNvSpPr/>
          <p:nvPr/>
        </p:nvSpPr>
        <p:spPr>
          <a:xfrm>
            <a:off x="4846320" y="1965960"/>
            <a:ext cx="411480" cy="411480"/>
          </a:xfrm>
          <a:prstGeom prst="ellipse">
            <a:avLst/>
          </a:prstGeom>
          <a:solidFill>
            <a:srgbClr val="2E5E8C"/>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Paul writes to churches such as Rome and Corinth</a:t>
            </a:r>
            <a:endParaRPr lang="en-US" sz="1800" dirty="0"/>
          </a:p>
        </p:txBody>
      </p:sp>
      <p:sp>
        <p:nvSpPr>
          <p:cNvPr id="14" name="Shape 11"/>
          <p:cNvSpPr/>
          <p:nvPr/>
        </p:nvSpPr>
        <p:spPr>
          <a:xfrm>
            <a:off x="4846320" y="2880360"/>
            <a:ext cx="411480" cy="411480"/>
          </a:xfrm>
          <a:prstGeom prst="ellipse">
            <a:avLst/>
          </a:prstGeom>
          <a:solidFill>
            <a:srgbClr val="2E5E8C"/>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Letters by Peter, James, John and Jude</a:t>
            </a:r>
            <a:endParaRPr lang="en-US" sz="1800" dirty="0"/>
          </a:p>
        </p:txBody>
      </p:sp>
      <p:sp>
        <p:nvSpPr>
          <p:cNvPr id="17" name="Shape 14"/>
          <p:cNvSpPr/>
          <p:nvPr/>
        </p:nvSpPr>
        <p:spPr>
          <a:xfrm>
            <a:off x="4846320" y="3794760"/>
            <a:ext cx="411480" cy="411480"/>
          </a:xfrm>
          <a:prstGeom prst="ellipse">
            <a:avLst/>
          </a:prstGeom>
          <a:solidFill>
            <a:srgbClr val="2E5E8C"/>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Teaching on grace, faith, love and church life</a:t>
            </a:r>
            <a:endParaRPr lang="en-US" sz="1800" dirty="0"/>
          </a:p>
        </p:txBody>
      </p:sp>
      <p:sp>
        <p:nvSpPr>
          <p:cNvPr id="20" name="Shape 17"/>
          <p:cNvSpPr/>
          <p:nvPr/>
        </p:nvSpPr>
        <p:spPr>
          <a:xfrm>
            <a:off x="4846320" y="4709160"/>
            <a:ext cx="411480" cy="411480"/>
          </a:xfrm>
          <a:prstGeom prst="ellipse">
            <a:avLst/>
          </a:prstGeom>
          <a:solidFill>
            <a:srgbClr val="2E5E8C"/>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Encouragement for believers facing persecution</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16022" y="6190488"/>
            <a:ext cx="237744" cy="237744"/>
          </a:xfrm>
          <a:prstGeom prst="ellipse">
            <a:avLst/>
          </a:prstGeom>
          <a:solidFill>
            <a:srgbClr val="D4A437"/>
          </a:solidFill>
          <a:ln w="12700">
            <a:solidFill>
              <a:srgbClr val="FFFFFF"/>
            </a:solidFill>
            <a:prstDash val="solid"/>
          </a:ln>
        </p:spPr>
      </p:sp>
      <p:sp>
        <p:nvSpPr>
          <p:cNvPr id="37" name="Shape 34"/>
          <p:cNvSpPr/>
          <p:nvPr/>
        </p:nvSpPr>
        <p:spPr>
          <a:xfrm>
            <a:off x="11396167" y="6245352"/>
            <a:ext cx="128016" cy="128016"/>
          </a:xfrm>
          <a:prstGeom prst="ellipse">
            <a:avLst/>
          </a:prstGeom>
          <a:solidFill>
            <a:srgbClr val="2E5E8C"/>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13E"/>
          </a:solidFill>
          <a:ln/>
        </p:spPr>
      </p:sp>
      <p:sp>
        <p:nvSpPr>
          <p:cNvPr id="3" name="Shape 1"/>
          <p:cNvSpPr/>
          <p:nvPr/>
        </p:nvSpPr>
        <p:spPr>
          <a:xfrm>
            <a:off x="731520" y="822960"/>
            <a:ext cx="1371600" cy="1371600"/>
          </a:xfrm>
          <a:prstGeom prst="ellipse">
            <a:avLst/>
          </a:prstGeom>
          <a:solidFill>
            <a:srgbClr val="D4A437"/>
          </a:solidFill>
          <a:ln/>
        </p:spPr>
      </p:sp>
      <p:sp>
        <p:nvSpPr>
          <p:cNvPr id="4" name="Text 2"/>
          <p:cNvSpPr txBox="1"/>
          <p:nvPr/>
        </p:nvSpPr>
        <p:spPr>
          <a:xfrm>
            <a:off x="731520" y="822960"/>
            <a:ext cx="1371600" cy="1371600"/>
          </a:xfrm>
          <a:prstGeom prst="rect">
            <a:avLst/>
          </a:prstGeom>
          <a:noFill/>
          <a:ln/>
        </p:spPr>
        <p:txBody>
          <a:bodyPr wrap="square" lIns="0" tIns="0" rIns="0" bIns="0" rtlCol="0" anchor="ctr"/>
          <a:lstStyle/>
          <a:p>
            <a:pPr algn="ctr" indent="0" marL="0">
              <a:buNone/>
            </a:pPr>
            <a:r>
              <a:rPr lang="en-US" sz="4800" b="1" dirty="0">
                <a:solidFill>
                  <a:srgbClr val="16213E"/>
                </a:solidFill>
                <a:latin typeface="Cambria" pitchFamily="34" charset="0"/>
                <a:ea typeface="Cambria" pitchFamily="34" charset="-122"/>
                <a:cs typeface="Cambria" pitchFamily="34" charset="-120"/>
              </a:rPr>
              <a:t>14</a:t>
            </a:r>
            <a:endParaRPr lang="en-US" sz="4800" dirty="0"/>
          </a:p>
        </p:txBody>
      </p:sp>
      <p:pic>
        <p:nvPicPr>
          <p:cNvPr id="5" name="Image 0" descr="icons/14.png">    </p:cNvPr>
          <p:cNvPicPr>
            <a:picLocks noChangeAspect="1"/>
          </p:cNvPicPr>
          <p:nvPr/>
        </p:nvPicPr>
        <p:blipFill>
          <a:blip r:embed="rId1"/>
          <a:stretch>
            <a:fillRect/>
          </a:stretch>
        </p:blipFill>
        <p:spPr>
          <a:xfrm>
            <a:off x="2514600" y="914400"/>
            <a:ext cx="1188720" cy="1188720"/>
          </a:xfrm>
          <a:prstGeom prst="rect">
            <a:avLst/>
          </a:prstGeom>
        </p:spPr>
      </p:pic>
      <p:sp>
        <p:nvSpPr>
          <p:cNvPr id="6" name="Text 3"/>
          <p:cNvSpPr txBox="1"/>
          <p:nvPr/>
        </p:nvSpPr>
        <p:spPr>
          <a:xfrm>
            <a:off x="731520" y="251460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NEW TESTAMENT</a:t>
            </a:r>
            <a:endParaRPr lang="en-US" sz="1200" dirty="0"/>
          </a:p>
        </p:txBody>
      </p:sp>
      <p:sp>
        <p:nvSpPr>
          <p:cNvPr id="7" name="Text 4"/>
          <p:cNvSpPr txBox="1"/>
          <p:nvPr/>
        </p:nvSpPr>
        <p:spPr>
          <a:xfrm>
            <a:off x="731520" y="2880360"/>
            <a:ext cx="3108960" cy="1097280"/>
          </a:xfrm>
          <a:prstGeom prst="rect">
            <a:avLst/>
          </a:prstGeom>
          <a:noFill/>
          <a:ln/>
        </p:spPr>
        <p:txBody>
          <a:bodyPr wrap="square" lIns="0" tIns="0" rIns="0" bIns="0" rtlCol="0" anchor="t"/>
          <a:lstStyle/>
          <a:p>
            <a:pPr indent="0" marL="0">
              <a:buNone/>
            </a:pPr>
            <a:r>
              <a:rPr lang="en-US" sz="3000" b="1" dirty="0">
                <a:solidFill>
                  <a:srgbClr val="FBF8F1"/>
                </a:solidFill>
                <a:latin typeface="Cambria" pitchFamily="34" charset="0"/>
                <a:ea typeface="Cambria" pitchFamily="34" charset="-122"/>
                <a:cs typeface="Cambria" pitchFamily="34" charset="-120"/>
              </a:rPr>
              <a:t>c. AD 95</a:t>
            </a:r>
            <a:endParaRPr lang="en-US" sz="3000" dirty="0"/>
          </a:p>
        </p:txBody>
      </p:sp>
      <p:sp>
        <p:nvSpPr>
          <p:cNvPr id="8" name="Text 5"/>
          <p:cNvSpPr txBox="1"/>
          <p:nvPr/>
        </p:nvSpPr>
        <p:spPr>
          <a:xfrm>
            <a:off x="731520" y="4206240"/>
            <a:ext cx="3108960" cy="320040"/>
          </a:xfrm>
          <a:prstGeom prst="rect">
            <a:avLst/>
          </a:prstGeom>
          <a:noFill/>
          <a:ln/>
        </p:spPr>
        <p:txBody>
          <a:bodyPr wrap="square" lIns="0" tIns="0" rIns="0" bIns="0" rtlCol="0" anchor="ctr"/>
          <a:lstStyle/>
          <a:p>
            <a:pPr indent="0" marL="0">
              <a:buNone/>
            </a:pPr>
            <a:r>
              <a:rPr lang="en-US" sz="1200" b="1" spc="300" kern="0" dirty="0">
                <a:solidFill>
                  <a:srgbClr val="D4A437"/>
                </a:solidFill>
                <a:latin typeface="Calibri" pitchFamily="34" charset="0"/>
                <a:ea typeface="Calibri" pitchFamily="34" charset="-122"/>
                <a:cs typeface="Calibri" pitchFamily="34" charset="-120"/>
              </a:rPr>
              <a:t>BOOKS</a:t>
            </a:r>
            <a:endParaRPr lang="en-US" sz="1200" dirty="0"/>
          </a:p>
        </p:txBody>
      </p:sp>
      <p:sp>
        <p:nvSpPr>
          <p:cNvPr id="9" name="Text 6"/>
          <p:cNvSpPr txBox="1"/>
          <p:nvPr/>
        </p:nvSpPr>
        <p:spPr>
          <a:xfrm>
            <a:off x="731520" y="4526280"/>
            <a:ext cx="3108960" cy="1188720"/>
          </a:xfrm>
          <a:prstGeom prst="rect">
            <a:avLst/>
          </a:prstGeom>
          <a:noFill/>
          <a:ln/>
        </p:spPr>
        <p:txBody>
          <a:bodyPr wrap="square" lIns="0" tIns="0" rIns="0" bIns="0" rtlCol="0" anchor="t"/>
          <a:lstStyle/>
          <a:p>
            <a:pPr indent="0" marL="0">
              <a:buNone/>
            </a:pPr>
            <a:r>
              <a:rPr lang="en-US" sz="1600" dirty="0">
                <a:solidFill>
                  <a:srgbClr val="D8DCE8"/>
                </a:solidFill>
                <a:latin typeface="Calibri" pitchFamily="34" charset="0"/>
                <a:ea typeface="Calibri" pitchFamily="34" charset="-122"/>
                <a:cs typeface="Calibri" pitchFamily="34" charset="-120"/>
              </a:rPr>
              <a:t>Revelation</a:t>
            </a:r>
            <a:endParaRPr lang="en-US" sz="1600" dirty="0"/>
          </a:p>
        </p:txBody>
      </p:sp>
      <p:sp>
        <p:nvSpPr>
          <p:cNvPr id="10" name="Text 7"/>
          <p:cNvSpPr txBox="1"/>
          <p:nvPr/>
        </p:nvSpPr>
        <p:spPr>
          <a:xfrm>
            <a:off x="4846320" y="685800"/>
            <a:ext cx="6309360" cy="914400"/>
          </a:xfrm>
          <a:prstGeom prst="rect">
            <a:avLst/>
          </a:prstGeom>
          <a:noFill/>
          <a:ln/>
        </p:spPr>
        <p:txBody>
          <a:bodyPr wrap="square" lIns="0" tIns="0" rIns="0" bIns="0" rtlCol="0" anchor="ctr"/>
          <a:lstStyle/>
          <a:p>
            <a:pPr indent="0" marL="0">
              <a:buNone/>
            </a:pPr>
            <a:r>
              <a:rPr lang="en-US" sz="3800" b="1" dirty="0">
                <a:solidFill>
                  <a:srgbClr val="1F2433"/>
                </a:solidFill>
                <a:latin typeface="Cambria" pitchFamily="34" charset="0"/>
                <a:ea typeface="Cambria" pitchFamily="34" charset="-122"/>
                <a:cs typeface="Cambria" pitchFamily="34" charset="-120"/>
              </a:rPr>
              <a:t>Revelation</a:t>
            </a:r>
            <a:endParaRPr lang="en-US" sz="3800" dirty="0"/>
          </a:p>
        </p:txBody>
      </p:sp>
      <p:sp>
        <p:nvSpPr>
          <p:cNvPr id="11" name="Shape 8"/>
          <p:cNvSpPr/>
          <p:nvPr/>
        </p:nvSpPr>
        <p:spPr>
          <a:xfrm>
            <a:off x="4846320" y="1965960"/>
            <a:ext cx="411480" cy="411480"/>
          </a:xfrm>
          <a:prstGeom prst="ellipse">
            <a:avLst/>
          </a:prstGeom>
          <a:solidFill>
            <a:srgbClr val="2E5E8C"/>
          </a:solidFill>
          <a:ln/>
        </p:spPr>
      </p:sp>
      <p:sp>
        <p:nvSpPr>
          <p:cNvPr id="12" name="Text 9"/>
          <p:cNvSpPr txBox="1"/>
          <p:nvPr/>
        </p:nvSpPr>
        <p:spPr>
          <a:xfrm>
            <a:off x="4846320" y="1965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486400" y="19202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John receives visions on the island of Patmos</a:t>
            </a:r>
            <a:endParaRPr lang="en-US" sz="1800" dirty="0"/>
          </a:p>
        </p:txBody>
      </p:sp>
      <p:sp>
        <p:nvSpPr>
          <p:cNvPr id="14" name="Shape 11"/>
          <p:cNvSpPr/>
          <p:nvPr/>
        </p:nvSpPr>
        <p:spPr>
          <a:xfrm>
            <a:off x="4846320" y="2880360"/>
            <a:ext cx="411480" cy="411480"/>
          </a:xfrm>
          <a:prstGeom prst="ellipse">
            <a:avLst/>
          </a:prstGeom>
          <a:solidFill>
            <a:srgbClr val="2E5E8C"/>
          </a:solidFill>
          <a:ln/>
        </p:spPr>
      </p:sp>
      <p:sp>
        <p:nvSpPr>
          <p:cNvPr id="15" name="Text 12"/>
          <p:cNvSpPr txBox="1"/>
          <p:nvPr/>
        </p:nvSpPr>
        <p:spPr>
          <a:xfrm>
            <a:off x="4846320" y="2880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486400" y="28346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Messages to seven churches</a:t>
            </a:r>
            <a:endParaRPr lang="en-US" sz="1800" dirty="0"/>
          </a:p>
        </p:txBody>
      </p:sp>
      <p:sp>
        <p:nvSpPr>
          <p:cNvPr id="17" name="Shape 14"/>
          <p:cNvSpPr/>
          <p:nvPr/>
        </p:nvSpPr>
        <p:spPr>
          <a:xfrm>
            <a:off x="4846320" y="3794760"/>
            <a:ext cx="411480" cy="411480"/>
          </a:xfrm>
          <a:prstGeom prst="ellipse">
            <a:avLst/>
          </a:prstGeom>
          <a:solidFill>
            <a:srgbClr val="2E5E8C"/>
          </a:solidFill>
          <a:ln/>
        </p:spPr>
      </p:sp>
      <p:sp>
        <p:nvSpPr>
          <p:cNvPr id="18" name="Text 15"/>
          <p:cNvSpPr txBox="1"/>
          <p:nvPr/>
        </p:nvSpPr>
        <p:spPr>
          <a:xfrm>
            <a:off x="484632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486400" y="37490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Symbolic visions of the struggle between good and evil</a:t>
            </a:r>
            <a:endParaRPr lang="en-US" sz="1800" dirty="0"/>
          </a:p>
        </p:txBody>
      </p:sp>
      <p:sp>
        <p:nvSpPr>
          <p:cNvPr id="20" name="Shape 17"/>
          <p:cNvSpPr/>
          <p:nvPr/>
        </p:nvSpPr>
        <p:spPr>
          <a:xfrm>
            <a:off x="4846320" y="4709160"/>
            <a:ext cx="411480" cy="411480"/>
          </a:xfrm>
          <a:prstGeom prst="ellipse">
            <a:avLst/>
          </a:prstGeom>
          <a:solidFill>
            <a:srgbClr val="2E5E8C"/>
          </a:solidFill>
          <a:ln/>
        </p:spPr>
      </p:sp>
      <p:sp>
        <p:nvSpPr>
          <p:cNvPr id="21" name="Text 18"/>
          <p:cNvSpPr txBox="1"/>
          <p:nvPr/>
        </p:nvSpPr>
        <p:spPr>
          <a:xfrm>
            <a:off x="484632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86400" y="4663440"/>
            <a:ext cx="5943600" cy="731520"/>
          </a:xfrm>
          <a:prstGeom prst="rect">
            <a:avLst/>
          </a:prstGeom>
          <a:noFill/>
          <a:ln/>
        </p:spPr>
        <p:txBody>
          <a:bodyPr wrap="square" lIns="0" tIns="0" rIns="0" bIns="0" rtlCol="0" anchor="t"/>
          <a:lstStyle/>
          <a:p>
            <a:pPr indent="0" marL="0">
              <a:buNone/>
            </a:pPr>
            <a:r>
              <a:rPr lang="en-US" sz="1800" dirty="0">
                <a:solidFill>
                  <a:srgbClr val="1F2433"/>
                </a:solidFill>
                <a:latin typeface="Calibri" pitchFamily="34" charset="0"/>
                <a:ea typeface="Calibri" pitchFamily="34" charset="-122"/>
                <a:cs typeface="Calibri" pitchFamily="34" charset="-120"/>
              </a:rPr>
              <a:t>A new heaven and a new earth</a:t>
            </a:r>
            <a:endParaRPr lang="en-US" sz="1800" dirty="0"/>
          </a:p>
        </p:txBody>
      </p:sp>
      <p:sp>
        <p:nvSpPr>
          <p:cNvPr id="23" name="Shape 20"/>
          <p:cNvSpPr/>
          <p:nvPr/>
        </p:nvSpPr>
        <p:spPr>
          <a:xfrm>
            <a:off x="731520" y="6309360"/>
            <a:ext cx="10728655" cy="0"/>
          </a:xfrm>
          <a:prstGeom prst="line">
            <a:avLst/>
          </a:prstGeom>
          <a:noFill/>
          <a:ln w="19050">
            <a:solidFill>
              <a:srgbClr val="C9CCD6"/>
            </a:solidFill>
            <a:prstDash val="solid"/>
          </a:ln>
        </p:spPr>
      </p:sp>
      <p:sp>
        <p:nvSpPr>
          <p:cNvPr id="24" name="Shape 21"/>
          <p:cNvSpPr/>
          <p:nvPr/>
        </p:nvSpPr>
        <p:spPr>
          <a:xfrm>
            <a:off x="667512" y="6245352"/>
            <a:ext cx="128016" cy="128016"/>
          </a:xfrm>
          <a:prstGeom prst="ellipse">
            <a:avLst/>
          </a:prstGeom>
          <a:solidFill>
            <a:srgbClr val="8C3B2E"/>
          </a:solidFill>
          <a:ln w="12700">
            <a:solidFill>
              <a:srgbClr val="FFFFFF"/>
            </a:solidFill>
            <a:prstDash val="solid"/>
          </a:ln>
        </p:spPr>
      </p:sp>
      <p:sp>
        <p:nvSpPr>
          <p:cNvPr id="25" name="Shape 22"/>
          <p:cNvSpPr/>
          <p:nvPr/>
        </p:nvSpPr>
        <p:spPr>
          <a:xfrm>
            <a:off x="1492793" y="6245352"/>
            <a:ext cx="128016" cy="128016"/>
          </a:xfrm>
          <a:prstGeom prst="ellipse">
            <a:avLst/>
          </a:prstGeom>
          <a:solidFill>
            <a:srgbClr val="8C3B2E"/>
          </a:solidFill>
          <a:ln w="12700">
            <a:solidFill>
              <a:srgbClr val="FFFFFF"/>
            </a:solidFill>
            <a:prstDash val="solid"/>
          </a:ln>
        </p:spPr>
      </p:sp>
      <p:sp>
        <p:nvSpPr>
          <p:cNvPr id="26" name="Shape 23"/>
          <p:cNvSpPr/>
          <p:nvPr/>
        </p:nvSpPr>
        <p:spPr>
          <a:xfrm>
            <a:off x="2318074" y="6245352"/>
            <a:ext cx="128016" cy="128016"/>
          </a:xfrm>
          <a:prstGeom prst="ellipse">
            <a:avLst/>
          </a:prstGeom>
          <a:solidFill>
            <a:srgbClr val="8C3B2E"/>
          </a:solidFill>
          <a:ln w="12700">
            <a:solidFill>
              <a:srgbClr val="FFFFFF"/>
            </a:solidFill>
            <a:prstDash val="solid"/>
          </a:ln>
        </p:spPr>
      </p:sp>
      <p:sp>
        <p:nvSpPr>
          <p:cNvPr id="27" name="Shape 24"/>
          <p:cNvSpPr/>
          <p:nvPr/>
        </p:nvSpPr>
        <p:spPr>
          <a:xfrm>
            <a:off x="3143356" y="6245352"/>
            <a:ext cx="128016" cy="128016"/>
          </a:xfrm>
          <a:prstGeom prst="ellipse">
            <a:avLst/>
          </a:prstGeom>
          <a:solidFill>
            <a:srgbClr val="8C3B2E"/>
          </a:solidFill>
          <a:ln w="12700">
            <a:solidFill>
              <a:srgbClr val="FFFFFF"/>
            </a:solidFill>
            <a:prstDash val="solid"/>
          </a:ln>
        </p:spPr>
      </p:sp>
      <p:sp>
        <p:nvSpPr>
          <p:cNvPr id="28" name="Shape 25"/>
          <p:cNvSpPr/>
          <p:nvPr/>
        </p:nvSpPr>
        <p:spPr>
          <a:xfrm>
            <a:off x="3968637" y="6245352"/>
            <a:ext cx="128016" cy="128016"/>
          </a:xfrm>
          <a:prstGeom prst="ellipse">
            <a:avLst/>
          </a:prstGeom>
          <a:solidFill>
            <a:srgbClr val="8C3B2E"/>
          </a:solidFill>
          <a:ln w="12700">
            <a:solidFill>
              <a:srgbClr val="FFFFFF"/>
            </a:solidFill>
            <a:prstDash val="solid"/>
          </a:ln>
        </p:spPr>
      </p:sp>
      <p:sp>
        <p:nvSpPr>
          <p:cNvPr id="29" name="Shape 26"/>
          <p:cNvSpPr/>
          <p:nvPr/>
        </p:nvSpPr>
        <p:spPr>
          <a:xfrm>
            <a:off x="4793918" y="6245352"/>
            <a:ext cx="128016" cy="128016"/>
          </a:xfrm>
          <a:prstGeom prst="ellipse">
            <a:avLst/>
          </a:prstGeom>
          <a:solidFill>
            <a:srgbClr val="8C3B2E"/>
          </a:solidFill>
          <a:ln w="12700">
            <a:solidFill>
              <a:srgbClr val="FFFFFF"/>
            </a:solidFill>
            <a:prstDash val="solid"/>
          </a:ln>
        </p:spPr>
      </p:sp>
      <p:sp>
        <p:nvSpPr>
          <p:cNvPr id="30" name="Shape 27"/>
          <p:cNvSpPr/>
          <p:nvPr/>
        </p:nvSpPr>
        <p:spPr>
          <a:xfrm>
            <a:off x="5619199" y="6245352"/>
            <a:ext cx="128016" cy="128016"/>
          </a:xfrm>
          <a:prstGeom prst="ellipse">
            <a:avLst/>
          </a:prstGeom>
          <a:solidFill>
            <a:srgbClr val="8C3B2E"/>
          </a:solidFill>
          <a:ln w="12700">
            <a:solidFill>
              <a:srgbClr val="FFFFFF"/>
            </a:solidFill>
            <a:prstDash val="solid"/>
          </a:ln>
        </p:spPr>
      </p:sp>
      <p:sp>
        <p:nvSpPr>
          <p:cNvPr id="31" name="Shape 28"/>
          <p:cNvSpPr/>
          <p:nvPr/>
        </p:nvSpPr>
        <p:spPr>
          <a:xfrm>
            <a:off x="6444480" y="6245352"/>
            <a:ext cx="128016" cy="128016"/>
          </a:xfrm>
          <a:prstGeom prst="ellipse">
            <a:avLst/>
          </a:prstGeom>
          <a:solidFill>
            <a:srgbClr val="8C3B2E"/>
          </a:solidFill>
          <a:ln w="12700">
            <a:solidFill>
              <a:srgbClr val="FFFFFF"/>
            </a:solidFill>
            <a:prstDash val="solid"/>
          </a:ln>
        </p:spPr>
      </p:sp>
      <p:sp>
        <p:nvSpPr>
          <p:cNvPr id="32" name="Shape 29"/>
          <p:cNvSpPr/>
          <p:nvPr/>
        </p:nvSpPr>
        <p:spPr>
          <a:xfrm>
            <a:off x="7269761" y="6245352"/>
            <a:ext cx="128016" cy="128016"/>
          </a:xfrm>
          <a:prstGeom prst="ellipse">
            <a:avLst/>
          </a:prstGeom>
          <a:solidFill>
            <a:srgbClr val="8C3B2E"/>
          </a:solidFill>
          <a:ln w="12700">
            <a:solidFill>
              <a:srgbClr val="FFFFFF"/>
            </a:solidFill>
            <a:prstDash val="solid"/>
          </a:ln>
        </p:spPr>
      </p:sp>
      <p:sp>
        <p:nvSpPr>
          <p:cNvPr id="33" name="Shape 30"/>
          <p:cNvSpPr/>
          <p:nvPr/>
        </p:nvSpPr>
        <p:spPr>
          <a:xfrm>
            <a:off x="8095043" y="6245352"/>
            <a:ext cx="128016" cy="128016"/>
          </a:xfrm>
          <a:prstGeom prst="ellipse">
            <a:avLst/>
          </a:prstGeom>
          <a:solidFill>
            <a:srgbClr val="2E5E8C"/>
          </a:solidFill>
          <a:ln w="12700">
            <a:solidFill>
              <a:srgbClr val="FFFFFF"/>
            </a:solidFill>
            <a:prstDash val="solid"/>
          </a:ln>
        </p:spPr>
      </p:sp>
      <p:sp>
        <p:nvSpPr>
          <p:cNvPr id="34" name="Shape 31"/>
          <p:cNvSpPr/>
          <p:nvPr/>
        </p:nvSpPr>
        <p:spPr>
          <a:xfrm>
            <a:off x="8920324" y="6245352"/>
            <a:ext cx="128016" cy="128016"/>
          </a:xfrm>
          <a:prstGeom prst="ellipse">
            <a:avLst/>
          </a:prstGeom>
          <a:solidFill>
            <a:srgbClr val="2E5E8C"/>
          </a:solidFill>
          <a:ln w="12700">
            <a:solidFill>
              <a:srgbClr val="FFFFFF"/>
            </a:solidFill>
            <a:prstDash val="solid"/>
          </a:ln>
        </p:spPr>
      </p:sp>
      <p:sp>
        <p:nvSpPr>
          <p:cNvPr id="35" name="Shape 32"/>
          <p:cNvSpPr/>
          <p:nvPr/>
        </p:nvSpPr>
        <p:spPr>
          <a:xfrm>
            <a:off x="9745605" y="6245352"/>
            <a:ext cx="128016" cy="128016"/>
          </a:xfrm>
          <a:prstGeom prst="ellipse">
            <a:avLst/>
          </a:prstGeom>
          <a:solidFill>
            <a:srgbClr val="2E5E8C"/>
          </a:solidFill>
          <a:ln w="12700">
            <a:solidFill>
              <a:srgbClr val="FFFFFF"/>
            </a:solidFill>
            <a:prstDash val="solid"/>
          </a:ln>
        </p:spPr>
      </p:sp>
      <p:sp>
        <p:nvSpPr>
          <p:cNvPr id="36" name="Shape 33"/>
          <p:cNvSpPr/>
          <p:nvPr/>
        </p:nvSpPr>
        <p:spPr>
          <a:xfrm>
            <a:off x="10570886" y="6245352"/>
            <a:ext cx="128016" cy="128016"/>
          </a:xfrm>
          <a:prstGeom prst="ellipse">
            <a:avLst/>
          </a:prstGeom>
          <a:solidFill>
            <a:srgbClr val="2E5E8C"/>
          </a:solidFill>
          <a:ln w="12700">
            <a:solidFill>
              <a:srgbClr val="FFFFFF"/>
            </a:solidFill>
            <a:prstDash val="solid"/>
          </a:ln>
        </p:spPr>
      </p:sp>
      <p:sp>
        <p:nvSpPr>
          <p:cNvPr id="37" name="Shape 34"/>
          <p:cNvSpPr/>
          <p:nvPr/>
        </p:nvSpPr>
        <p:spPr>
          <a:xfrm>
            <a:off x="11341303" y="6190488"/>
            <a:ext cx="237744" cy="237744"/>
          </a:xfrm>
          <a:prstGeom prst="ellipse">
            <a:avLst/>
          </a:prstGeom>
          <a:solidFill>
            <a:srgbClr val="D4A437"/>
          </a:solidFill>
          <a:ln w="12700">
            <a:solidFill>
              <a:srgbClr val="FFFFFF"/>
            </a:solidFill>
            <a:prstDash val="solid"/>
          </a:ln>
        </p:spPr>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13E"/>
        </a:solidFill>
      </p:bgPr>
    </p:bg>
    <p:spTree>
      <p:nvGrpSpPr>
        <p:cNvPr id="1" name=""/>
        <p:cNvGrpSpPr/>
        <p:nvPr/>
      </p:nvGrpSpPr>
      <p:grpSpPr>
        <a:xfrm>
          <a:off x="0" y="0"/>
          <a:ext cx="0" cy="0"/>
          <a:chOff x="0" y="0"/>
          <a:chExt cx="0" cy="0"/>
        </a:xfrm>
      </p:grpSpPr>
      <p:pic>
        <p:nvPicPr>
          <p:cNvPr id="2" name="Image 0" descr="icons/cover.png">    </p:cNvPr>
          <p:cNvPicPr>
            <a:picLocks noChangeAspect="1"/>
          </p:cNvPicPr>
          <p:nvPr/>
        </p:nvPicPr>
        <p:blipFill>
          <a:blip r:embed="rId1"/>
          <a:stretch>
            <a:fillRect/>
          </a:stretch>
        </p:blipFill>
        <p:spPr>
          <a:xfrm>
            <a:off x="5547208" y="548640"/>
            <a:ext cx="1097280" cy="1097280"/>
          </a:xfrm>
          <a:prstGeom prst="rect">
            <a:avLst/>
          </a:prstGeom>
        </p:spPr>
      </p:pic>
      <p:sp>
        <p:nvSpPr>
          <p:cNvPr id="3" name="Text 0"/>
          <p:cNvSpPr txBox="1"/>
          <p:nvPr/>
        </p:nvSpPr>
        <p:spPr>
          <a:xfrm>
            <a:off x="731520" y="1920240"/>
            <a:ext cx="10728655" cy="914400"/>
          </a:xfrm>
          <a:prstGeom prst="rect">
            <a:avLst/>
          </a:prstGeom>
          <a:noFill/>
          <a:ln/>
        </p:spPr>
        <p:txBody>
          <a:bodyPr wrap="square" lIns="0" tIns="0" rIns="0" bIns="0" rtlCol="0" anchor="ctr"/>
          <a:lstStyle/>
          <a:p>
            <a:pPr algn="ctr" indent="0" marL="0">
              <a:buNone/>
            </a:pPr>
            <a:r>
              <a:rPr lang="en-US" sz="4000" i="1" dirty="0">
                <a:solidFill>
                  <a:srgbClr val="D4A437"/>
                </a:solidFill>
                <a:latin typeface="Cambria" pitchFamily="34" charset="0"/>
                <a:ea typeface="Cambria" pitchFamily="34" charset="-122"/>
                <a:cs typeface="Cambria" pitchFamily="34" charset="-120"/>
              </a:rPr>
              <a:t>“In the beginning…”</a:t>
            </a:r>
            <a:endParaRPr lang="en-US" sz="4000" dirty="0"/>
          </a:p>
        </p:txBody>
      </p:sp>
      <p:sp>
        <p:nvSpPr>
          <p:cNvPr id="4" name="Text 1"/>
          <p:cNvSpPr txBox="1"/>
          <p:nvPr/>
        </p:nvSpPr>
        <p:spPr>
          <a:xfrm>
            <a:off x="731520" y="2834640"/>
            <a:ext cx="10728655" cy="914400"/>
          </a:xfrm>
          <a:prstGeom prst="rect">
            <a:avLst/>
          </a:prstGeom>
          <a:noFill/>
          <a:ln/>
        </p:spPr>
        <p:txBody>
          <a:bodyPr wrap="square" lIns="0" tIns="0" rIns="0" bIns="0" rtlCol="0" anchor="ctr"/>
          <a:lstStyle/>
          <a:p>
            <a:pPr algn="ctr" indent="0" marL="0">
              <a:buNone/>
            </a:pPr>
            <a:r>
              <a:rPr lang="en-US" sz="4000" i="1" dirty="0">
                <a:solidFill>
                  <a:srgbClr val="D4A437"/>
                </a:solidFill>
                <a:latin typeface="Cambria" pitchFamily="34" charset="0"/>
                <a:ea typeface="Cambria" pitchFamily="34" charset="-122"/>
                <a:cs typeface="Cambria" pitchFamily="34" charset="-120"/>
              </a:rPr>
              <a:t>…to a new heaven and a new earth</a:t>
            </a:r>
            <a:endParaRPr lang="en-US" sz="4000" dirty="0"/>
          </a:p>
        </p:txBody>
      </p:sp>
      <p:sp>
        <p:nvSpPr>
          <p:cNvPr id="5" name="Text 2"/>
          <p:cNvSpPr txBox="1"/>
          <p:nvPr/>
        </p:nvSpPr>
        <p:spPr>
          <a:xfrm>
            <a:off x="731520" y="4206240"/>
            <a:ext cx="10728655" cy="640080"/>
          </a:xfrm>
          <a:prstGeom prst="rect">
            <a:avLst/>
          </a:prstGeom>
          <a:noFill/>
          <a:ln/>
        </p:spPr>
        <p:txBody>
          <a:bodyPr wrap="square" lIns="0" tIns="0" rIns="0" bIns="0" rtlCol="0" anchor="ctr"/>
          <a:lstStyle/>
          <a:p>
            <a:pPr algn="ctr" indent="0" marL="0">
              <a:buNone/>
            </a:pPr>
            <a:r>
              <a:rPr lang="en-US" sz="2600" b="1" dirty="0">
                <a:solidFill>
                  <a:srgbClr val="FBF8F1"/>
                </a:solidFill>
                <a:latin typeface="Calibri" pitchFamily="34" charset="0"/>
                <a:ea typeface="Calibri" pitchFamily="34" charset="-122"/>
                <a:cs typeface="Calibri" pitchFamily="34" charset="-120"/>
              </a:rPr>
              <a:t>66 books · 14 eras · one story</a:t>
            </a:r>
            <a:endParaRPr lang="en-US" sz="2600" dirty="0"/>
          </a:p>
        </p:txBody>
      </p:sp>
      <p:sp>
        <p:nvSpPr>
          <p:cNvPr id="6" name="Text 3"/>
          <p:cNvSpPr txBox="1"/>
          <p:nvPr/>
        </p:nvSpPr>
        <p:spPr>
          <a:xfrm>
            <a:off x="731520" y="5760720"/>
            <a:ext cx="10728655" cy="365760"/>
          </a:xfrm>
          <a:prstGeom prst="rect">
            <a:avLst/>
          </a:prstGeom>
          <a:noFill/>
          <a:ln/>
        </p:spPr>
        <p:txBody>
          <a:bodyPr wrap="square" lIns="0" tIns="0" rIns="0" bIns="0" rtlCol="0" anchor="ctr"/>
          <a:lstStyle/>
          <a:p>
            <a:pPr algn="ctr" indent="0" marL="0">
              <a:buNone/>
            </a:pPr>
            <a:r>
              <a:rPr lang="en-US" sz="1300" dirty="0">
                <a:solidFill>
                  <a:srgbClr val="AEB4C6"/>
                </a:solidFill>
                <a:latin typeface="Calibri" pitchFamily="34" charset="0"/>
                <a:ea typeface="Calibri" pitchFamily="34" charset="-122"/>
                <a:cs typeface="Calibri" pitchFamily="34" charset="-120"/>
              </a:rPr>
              <a:t>Dates are approximate and follow a traditional timeline.</a:t>
            </a:r>
            <a:endParaRPr lang="en-US" sz="130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323015" y="365760"/>
            <a:ext cx="457200"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Bible in Timeline Order</dc:title>
  <dc:subject>PptxGenJS Presentation</dc:subject>
  <dc:creator>PptxGenJS</dc:creator>
  <cp:lastModifiedBy>PptxGenJS</cp:lastModifiedBy>
  <cp:revision>1</cp:revision>
  <dcterms:created xsi:type="dcterms:W3CDTF">2026-09-27T15:04:47Z</dcterms:created>
  <dcterms:modified xsi:type="dcterms:W3CDTF">2026-09-27T15:04:47Z</dcterms:modified>
</cp:coreProperties>
</file>